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ellipse">
            <a:avLst/>
          </a:prstGeom>
          <a:solidFill>
            <a:srgbClr val="FFE27A"/>
          </a:solidFill>
          <a:ln w="12700">
            <a:solidFill>
              <a:srgbClr val="FFE27A"/>
            </a:solidFill>
            <a:prstDash val="solid"/>
          </a:ln>
        </p:spPr>
      </p:sp>
      <p:sp>
        <p:nvSpPr>
          <p:cNvPr id="3" name="Text 1"/>
          <p:cNvSpPr txBox="1"/>
          <p:nvPr/>
        </p:nvSpPr>
        <p:spPr>
          <a:xfrm>
            <a:off x="777240" y="475488"/>
            <a:ext cx="3657600" cy="329184"/>
          </a:xfrm>
          <a:prstGeom prst="rect">
            <a:avLst/>
          </a:prstGeom>
          <a:noFill/>
          <a:ln/>
        </p:spPr>
        <p:txBody>
          <a:bodyPr wrap="square" lIns="0" tIns="0" rIns="0" bIns="0" rtlCol="0" anchor="ctr"/>
          <a:lstStyle/>
          <a:p>
            <a:pPr indent="0" marL="0">
              <a:buNone/>
            </a:pPr>
            <a:r>
              <a:rPr lang="en-US" sz="1600" b="1" dirty="0">
                <a:solidFill>
                  <a:srgbClr val="F4F6FF"/>
                </a:solidFill>
                <a:latin typeface="League Spartan" pitchFamily="34" charset="0"/>
                <a:ea typeface="League Spartan" pitchFamily="34" charset="-122"/>
                <a:cs typeface="League Spartan" pitchFamily="34" charset="-120"/>
              </a:rPr>
              <a:t>greenfriend.</a:t>
            </a:r>
            <a:endParaRPr lang="en-US" sz="1600" dirty="0"/>
          </a:p>
        </p:txBody>
      </p:sp>
      <p:sp>
        <p:nvSpPr>
          <p:cNvPr id="4" name="Text 2"/>
          <p:cNvSpPr txBox="1"/>
          <p:nvPr/>
        </p:nvSpPr>
        <p:spPr>
          <a:xfrm>
            <a:off x="548640" y="1554480"/>
            <a:ext cx="7315200" cy="274320"/>
          </a:xfrm>
          <a:prstGeom prst="rect">
            <a:avLst/>
          </a:prstGeom>
          <a:noFill/>
          <a:ln/>
        </p:spPr>
        <p:txBody>
          <a:bodyPr wrap="square" lIns="0" tIns="0" rIns="0" bIns="0" rtlCol="0" anchor="ctr"/>
          <a:lstStyle/>
          <a:p>
            <a:pPr indent="0" marL="0">
              <a:buNone/>
            </a:pPr>
            <a:r>
              <a:rPr lang="en-US" sz="1100" b="1" spc="300" kern="0" dirty="0">
                <a:solidFill>
                  <a:srgbClr val="FFE27A"/>
                </a:solidFill>
                <a:latin typeface="Figtree" pitchFamily="34" charset="0"/>
                <a:ea typeface="Figtree" pitchFamily="34" charset="-122"/>
                <a:cs typeface="Figtree" pitchFamily="34" charset="-120"/>
              </a:rPr>
              <a:t>YOUR RESULTS · ESRS UPDATE 2026</a:t>
            </a:r>
            <a:endParaRPr lang="en-US" sz="1100" dirty="0"/>
          </a:p>
        </p:txBody>
      </p:sp>
      <p:sp>
        <p:nvSpPr>
          <p:cNvPr id="5" name="Text 3"/>
          <p:cNvSpPr txBox="1"/>
          <p:nvPr/>
        </p:nvSpPr>
        <p:spPr>
          <a:xfrm>
            <a:off x="548640" y="1874520"/>
            <a:ext cx="7498080" cy="1188720"/>
          </a:xfrm>
          <a:prstGeom prst="rect">
            <a:avLst/>
          </a:prstGeom>
          <a:noFill/>
          <a:ln/>
        </p:spPr>
        <p:txBody>
          <a:bodyPr wrap="square" lIns="0" tIns="0" rIns="0" bIns="0" rtlCol="0" anchor="ctr"/>
          <a:lstStyle/>
          <a:p>
            <a:pPr indent="0" marL="0">
              <a:buNone/>
            </a:pPr>
            <a:r>
              <a:rPr lang="en-US" sz="4000" b="1" dirty="0">
                <a:solidFill>
                  <a:srgbClr val="FFFFFF"/>
                </a:solidFill>
                <a:latin typeface="Literata" pitchFamily="34" charset="0"/>
                <a:ea typeface="Literata" pitchFamily="34" charset="-122"/>
                <a:cs typeface="Literata" pitchFamily="34" charset="-120"/>
              </a:rPr>
              <a:t>Your revised ESRS check, </a:t>
            </a:r>
            <a:pPr indent="0" marL="0">
              <a:buNone/>
            </a:pPr>
            <a:r>
              <a:rPr lang="en-US" sz="4000" b="1" dirty="0">
                <a:solidFill>
                  <a:srgbClr val="FFE27A"/>
                </a:solidFill>
                <a:latin typeface="Literata" pitchFamily="34" charset="0"/>
                <a:ea typeface="Literata" pitchFamily="34" charset="-122"/>
                <a:cs typeface="Literata" pitchFamily="34" charset="-120"/>
              </a:rPr>
              <a:t>in slides</a:t>
            </a:r>
            <a:endParaRPr lang="en-US" sz="4000" dirty="0"/>
          </a:p>
        </p:txBody>
      </p:sp>
      <p:sp>
        <p:nvSpPr>
          <p:cNvPr id="6" name="Text 4"/>
          <p:cNvSpPr txBox="1"/>
          <p:nvPr/>
        </p:nvSpPr>
        <p:spPr>
          <a:xfrm>
            <a:off x="548640" y="3200400"/>
            <a:ext cx="6400800" cy="640080"/>
          </a:xfrm>
          <a:prstGeom prst="rect">
            <a:avLst/>
          </a:prstGeom>
          <a:noFill/>
          <a:ln/>
        </p:spPr>
        <p:txBody>
          <a:bodyPr wrap="square" lIns="0" tIns="0" rIns="0" bIns="0" rtlCol="0" anchor="ctr"/>
          <a:lstStyle/>
          <a:p>
            <a:pPr indent="0" marL="0">
              <a:buNone/>
            </a:pPr>
            <a:r>
              <a:rPr lang="en-US" sz="1600" dirty="0">
                <a:solidFill>
                  <a:srgbClr val="E6E8FF"/>
                </a:solidFill>
                <a:latin typeface="Figtree" pitchFamily="34" charset="0"/>
                <a:ea typeface="Figtree" pitchFamily="34" charset="-122"/>
                <a:cs typeface="Figtree" pitchFamily="34" charset="-120"/>
              </a:rPr>
              <a:t>Scope, FY2026 route, datapoints and your 2027 roadmap. Ready to drop into your own deck.</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D"/>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28600"/>
          </a:xfrm>
          <a:prstGeom prst="rect">
            <a:avLst/>
          </a:prstGeom>
          <a:noFill/>
          <a:ln/>
        </p:spPr>
        <p:txBody>
          <a:bodyPr wrap="square" lIns="0" tIns="0" rIns="0" bIns="0" rtlCol="0" anchor="ctr"/>
          <a:lstStyle/>
          <a:p>
            <a:pPr indent="0" marL="0">
              <a:buNone/>
            </a:pPr>
            <a:r>
              <a:rPr lang="en-US" sz="1000" b="1" spc="200" kern="0" dirty="0">
                <a:solidFill>
                  <a:srgbClr val="3A3FD1"/>
                </a:solidFill>
                <a:latin typeface="Figtree" pitchFamily="34" charset="0"/>
                <a:ea typeface="Figtree" pitchFamily="34" charset="-122"/>
                <a:cs typeface="Figtree" pitchFamily="34" charset="-120"/>
              </a:rPr>
              <a:t>STEP 1 AND 2</a:t>
            </a:r>
            <a:endParaRPr lang="en-US" sz="1000" dirty="0"/>
          </a:p>
        </p:txBody>
      </p:sp>
      <p:sp>
        <p:nvSpPr>
          <p:cNvPr id="3" name="Text 1"/>
          <p:cNvSpPr txBox="1"/>
          <p:nvPr/>
        </p:nvSpPr>
        <p:spPr>
          <a:xfrm>
            <a:off x="548640" y="621792"/>
            <a:ext cx="8046720" cy="548640"/>
          </a:xfrm>
          <a:prstGeom prst="rect">
            <a:avLst/>
          </a:prstGeom>
          <a:noFill/>
          <a:ln/>
        </p:spPr>
        <p:txBody>
          <a:bodyPr wrap="square" lIns="0" tIns="0" rIns="0" bIns="0" rtlCol="0" anchor="ctr"/>
          <a:lstStyle/>
          <a:p>
            <a:pPr indent="0" marL="0">
              <a:buNone/>
            </a:pPr>
            <a:r>
              <a:rPr lang="en-US" sz="2800" b="1" dirty="0">
                <a:solidFill>
                  <a:srgbClr val="111A3D"/>
                </a:solidFill>
                <a:latin typeface="Literata" pitchFamily="34" charset="0"/>
                <a:ea typeface="Literata" pitchFamily="34" charset="-122"/>
                <a:cs typeface="Literata" pitchFamily="34" charset="-120"/>
              </a:rPr>
              <a:t>Scope and FY2026 route</a:t>
            </a:r>
            <a:endParaRPr lang="en-US" sz="2800" dirty="0"/>
          </a:p>
        </p:txBody>
      </p:sp>
      <p:sp>
        <p:nvSpPr>
          <p:cNvPr id="4" name="Shape 2"/>
          <p:cNvSpPr/>
          <p:nvPr/>
        </p:nvSpPr>
        <p:spPr>
          <a:xfrm>
            <a:off x="548640" y="1325880"/>
            <a:ext cx="3840480" cy="3154680"/>
          </a:xfrm>
          <a:prstGeom prst="roundRect">
            <a:avLst>
              <a:gd name="adj" fmla="val 3478"/>
            </a:avLst>
          </a:prstGeom>
          <a:solidFill>
            <a:srgbClr val="E6E8FF"/>
          </a:solidFill>
          <a:ln w="12700">
            <a:solidFill>
              <a:srgbClr val="E6E8FF"/>
            </a:solidFill>
            <a:prstDash val="solid"/>
          </a:ln>
        </p:spPr>
      </p:sp>
      <p:sp>
        <p:nvSpPr>
          <p:cNvPr id="5" name="Text 3"/>
          <p:cNvSpPr txBox="1"/>
          <p:nvPr/>
        </p:nvSpPr>
        <p:spPr>
          <a:xfrm>
            <a:off x="777240" y="1481328"/>
            <a:ext cx="3383280" cy="228600"/>
          </a:xfrm>
          <a:prstGeom prst="rect">
            <a:avLst/>
          </a:prstGeom>
          <a:noFill/>
          <a:ln/>
        </p:spPr>
        <p:txBody>
          <a:bodyPr wrap="square" lIns="0" tIns="0" rIns="0" bIns="0" rtlCol="0" anchor="ctr"/>
          <a:lstStyle/>
          <a:p>
            <a:pPr indent="0" marL="0">
              <a:buNone/>
            </a:pPr>
            <a:r>
              <a:rPr lang="en-US" sz="1000" b="1" spc="200" kern="0" dirty="0">
                <a:solidFill>
                  <a:srgbClr val="3A3FD1"/>
                </a:solidFill>
                <a:latin typeface="Figtree" pitchFamily="34" charset="0"/>
                <a:ea typeface="Figtree" pitchFamily="34" charset="-122"/>
                <a:cs typeface="Figtree" pitchFamily="34" charset="-120"/>
              </a:rPr>
              <a:t>IN SCOPE</a:t>
            </a:r>
            <a:endParaRPr lang="en-US" sz="1000" dirty="0"/>
          </a:p>
        </p:txBody>
      </p:sp>
      <p:sp>
        <p:nvSpPr>
          <p:cNvPr id="6" name="Text 4"/>
          <p:cNvSpPr txBox="1"/>
          <p:nvPr/>
        </p:nvSpPr>
        <p:spPr>
          <a:xfrm>
            <a:off x="777240" y="1737360"/>
            <a:ext cx="3383280" cy="822960"/>
          </a:xfrm>
          <a:prstGeom prst="rect">
            <a:avLst/>
          </a:prstGeom>
          <a:noFill/>
          <a:ln/>
        </p:spPr>
        <p:txBody>
          <a:bodyPr wrap="square" lIns="0" tIns="0" rIns="0" bIns="0" rtlCol="0" anchor="t"/>
          <a:lstStyle/>
          <a:p>
            <a:pPr indent="0" marL="0">
              <a:buNone/>
            </a:pPr>
            <a:r>
              <a:rPr lang="en-US" sz="1600" b="1" dirty="0">
                <a:solidFill>
                  <a:srgbClr val="111A3D"/>
                </a:solidFill>
                <a:latin typeface="Literata" pitchFamily="34" charset="0"/>
                <a:ea typeface="Literata" pitchFamily="34" charset="-122"/>
                <a:cs typeface="Literata" pitchFamily="34" charset="-120"/>
              </a:rPr>
              <a:t>Keep reporting: FY2026 route, then revised ESRS from FY2027</a:t>
            </a:r>
            <a:endParaRPr lang="en-US" sz="1600" dirty="0"/>
          </a:p>
        </p:txBody>
      </p:sp>
      <p:sp>
        <p:nvSpPr>
          <p:cNvPr id="7" name="Text 5"/>
          <p:cNvSpPr txBox="1"/>
          <p:nvPr/>
        </p:nvSpPr>
        <p:spPr>
          <a:xfrm>
            <a:off x="777240" y="2606040"/>
            <a:ext cx="3383280" cy="17830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11A3D"/>
                </a:solidFill>
                <a:latin typeface="Figtree" pitchFamily="34" charset="0"/>
                <a:ea typeface="Figtree" pitchFamily="34" charset="-122"/>
                <a:cs typeface="Figtree" pitchFamily="34" charset="-120"/>
              </a:rPr>
              <a:t>You stay in scope without a break.</a:t>
            </a:r>
            <a:endParaRPr lang="en-US" sz="1100" dirty="0"/>
          </a:p>
          <a:p>
            <a:pPr marL="342900" indent="-342900">
              <a:spcAft>
                <a:spcPts val="400"/>
              </a:spcAft>
              <a:buSzPct val="100000"/>
              <a:buChar char="•"/>
            </a:pPr>
            <a:r>
              <a:rPr lang="en-US" sz="1100" dirty="0">
                <a:solidFill>
                  <a:srgbClr val="111A3D"/>
                </a:solidFill>
                <a:latin typeface="Figtree" pitchFamily="34" charset="0"/>
                <a:ea typeface="Figtree" pitchFamily="34" charset="-122"/>
                <a:cs typeface="Figtree" pitchFamily="34" charset="-120"/>
              </a:rPr>
              <a:t>For FY2026, choose: pre-Omnibus ESRS, pre-Omnibus ESRS plus reliefs, or revised ESRS in full.</a:t>
            </a:r>
            <a:endParaRPr lang="en-US" sz="1100" dirty="0"/>
          </a:p>
          <a:p>
            <a:pPr marL="342900" indent="-342900">
              <a:spcAft>
                <a:spcPts val="400"/>
              </a:spcAft>
              <a:buSzPct val="100000"/>
              <a:buChar char="•"/>
            </a:pPr>
            <a:r>
              <a:rPr lang="en-US" sz="1100" dirty="0">
                <a:solidFill>
                  <a:srgbClr val="111A3D"/>
                </a:solidFill>
                <a:latin typeface="Figtree" pitchFamily="34" charset="0"/>
                <a:ea typeface="Figtree" pitchFamily="34" charset="-122"/>
                <a:cs typeface="Figtree" pitchFamily="34" charset="-120"/>
              </a:rPr>
              <a:t>From FY2027 the revised ESRS are mandatory.</a:t>
            </a:r>
            <a:endParaRPr lang="en-US" sz="1100" dirty="0"/>
          </a:p>
          <a:p>
            <a:pPr marL="342900" indent="-342900">
              <a:spcAft>
                <a:spcPts val="400"/>
              </a:spcAft>
              <a:buSzPct val="100000"/>
              <a:buChar char="•"/>
            </a:pPr>
            <a:r>
              <a:rPr lang="en-US" sz="1100" dirty="0">
                <a:solidFill>
                  <a:srgbClr val="111A3D"/>
                </a:solidFill>
                <a:latin typeface="Figtree" pitchFamily="34" charset="0"/>
                <a:ea typeface="Figtree" pitchFamily="34" charset="-122"/>
                <a:cs typeface="Figtree" pitchFamily="34" charset="-120"/>
              </a:rPr>
              <a:t>The value chain cap applies to what you can ask suppliers with up to 1,000 employees.</a:t>
            </a:r>
            <a:endParaRPr lang="en-US" sz="1100" dirty="0"/>
          </a:p>
        </p:txBody>
      </p:sp>
      <p:sp>
        <p:nvSpPr>
          <p:cNvPr id="8" name="Shape 6"/>
          <p:cNvSpPr/>
          <p:nvPr/>
        </p:nvSpPr>
        <p:spPr>
          <a:xfrm>
            <a:off x="4617720" y="1325880"/>
            <a:ext cx="3977640" cy="1005840"/>
          </a:xfrm>
          <a:prstGeom prst="roundRect">
            <a:avLst>
              <a:gd name="adj" fmla="val 9091"/>
            </a:avLst>
          </a:prstGeom>
          <a:solidFill>
            <a:srgbClr val="FFFFFF"/>
          </a:solidFill>
          <a:ln w="12700">
            <a:solidFill>
              <a:srgbClr val="DDE3F3"/>
            </a:solidFill>
            <a:prstDash val="solid"/>
          </a:ln>
        </p:spPr>
      </p:sp>
      <p:sp>
        <p:nvSpPr>
          <p:cNvPr id="9" name="Text 7"/>
          <p:cNvSpPr txBox="1"/>
          <p:nvPr/>
        </p:nvSpPr>
        <p:spPr>
          <a:xfrm>
            <a:off x="4800600" y="1417320"/>
            <a:ext cx="1371600" cy="201168"/>
          </a:xfrm>
          <a:prstGeom prst="rect">
            <a:avLst/>
          </a:prstGeom>
          <a:noFill/>
          <a:ln/>
        </p:spPr>
        <p:txBody>
          <a:bodyPr wrap="square" lIns="0" tIns="0" rIns="0" bIns="0" rtlCol="0" anchor="ctr"/>
          <a:lstStyle/>
          <a:p>
            <a:pPr indent="0" marL="0">
              <a:buNone/>
            </a:pPr>
            <a:r>
              <a:rPr lang="en-US" sz="900" b="1" spc="200" kern="0" dirty="0">
                <a:solidFill>
                  <a:srgbClr val="E8503F"/>
                </a:solidFill>
                <a:latin typeface="Figtree" pitchFamily="34" charset="0"/>
                <a:ea typeface="Figtree" pitchFamily="34" charset="-122"/>
                <a:cs typeface="Figtree" pitchFamily="34" charset="-120"/>
              </a:rPr>
              <a:t>ROUTE A</a:t>
            </a:r>
            <a:endParaRPr lang="en-US" sz="900" dirty="0"/>
          </a:p>
        </p:txBody>
      </p:sp>
      <p:sp>
        <p:nvSpPr>
          <p:cNvPr id="10" name="Text 8"/>
          <p:cNvSpPr txBox="1"/>
          <p:nvPr/>
        </p:nvSpPr>
        <p:spPr>
          <a:xfrm>
            <a:off x="4800600" y="1618488"/>
            <a:ext cx="3657600" cy="256032"/>
          </a:xfrm>
          <a:prstGeom prst="rect">
            <a:avLst/>
          </a:prstGeom>
          <a:noFill/>
          <a:ln/>
        </p:spPr>
        <p:txBody>
          <a:bodyPr wrap="square" lIns="0" tIns="0" rIns="0" bIns="0" rtlCol="0" anchor="ctr"/>
          <a:lstStyle/>
          <a:p>
            <a:pPr indent="0" marL="0">
              <a:buNone/>
            </a:pPr>
            <a:r>
              <a:rPr lang="en-US" sz="1300" b="1" dirty="0">
                <a:solidFill>
                  <a:srgbClr val="111A3D"/>
                </a:solidFill>
                <a:latin typeface="Literata" pitchFamily="34" charset="0"/>
                <a:ea typeface="Literata" pitchFamily="34" charset="-122"/>
                <a:cs typeface="Literata" pitchFamily="34" charset="-120"/>
              </a:rPr>
              <a:t>Keep it as it is</a:t>
            </a:r>
            <a:endParaRPr lang="en-US" sz="1300" dirty="0"/>
          </a:p>
        </p:txBody>
      </p:sp>
      <p:sp>
        <p:nvSpPr>
          <p:cNvPr id="11" name="Text 9"/>
          <p:cNvSpPr txBox="1"/>
          <p:nvPr/>
        </p:nvSpPr>
        <p:spPr>
          <a:xfrm>
            <a:off x="4800600" y="1856232"/>
            <a:ext cx="3657600" cy="457200"/>
          </a:xfrm>
          <a:prstGeom prst="rect">
            <a:avLst/>
          </a:prstGeom>
          <a:noFill/>
          <a:ln/>
        </p:spPr>
        <p:txBody>
          <a:bodyPr wrap="square" lIns="0" tIns="0" rIns="0" bIns="0" rtlCol="0" anchor="t"/>
          <a:lstStyle/>
          <a:p>
            <a:pPr indent="0" marL="0">
              <a:buNone/>
            </a:pPr>
            <a:r>
              <a:rPr lang="en-US" sz="900" dirty="0">
                <a:solidFill>
                  <a:srgbClr val="566089"/>
                </a:solidFill>
                <a:latin typeface="Figtree" pitchFamily="34" charset="0"/>
                <a:ea typeface="Figtree" pitchFamily="34" charset="-122"/>
                <a:cs typeface="Figtree" pitchFamily="34" charset="-120"/>
              </a:rPr>
              <a:t>Fits if: Your 2025 process works and you want to compare with last year.</a:t>
            </a:r>
            <a:endParaRPr lang="en-US" sz="900" dirty="0"/>
          </a:p>
        </p:txBody>
      </p:sp>
      <p:sp>
        <p:nvSpPr>
          <p:cNvPr id="12" name="Shape 10"/>
          <p:cNvSpPr/>
          <p:nvPr/>
        </p:nvSpPr>
        <p:spPr>
          <a:xfrm>
            <a:off x="4617720" y="2423160"/>
            <a:ext cx="3977640" cy="1005840"/>
          </a:xfrm>
          <a:prstGeom prst="roundRect">
            <a:avLst>
              <a:gd name="adj" fmla="val 9091"/>
            </a:avLst>
          </a:prstGeom>
          <a:solidFill>
            <a:srgbClr val="FFFFFF"/>
          </a:solidFill>
          <a:ln w="12700">
            <a:solidFill>
              <a:srgbClr val="DDE3F3"/>
            </a:solidFill>
            <a:prstDash val="solid"/>
          </a:ln>
        </p:spPr>
      </p:sp>
      <p:sp>
        <p:nvSpPr>
          <p:cNvPr id="13" name="Text 11"/>
          <p:cNvSpPr txBox="1"/>
          <p:nvPr/>
        </p:nvSpPr>
        <p:spPr>
          <a:xfrm>
            <a:off x="4800600" y="2514600"/>
            <a:ext cx="1371600" cy="201168"/>
          </a:xfrm>
          <a:prstGeom prst="rect">
            <a:avLst/>
          </a:prstGeom>
          <a:noFill/>
          <a:ln/>
        </p:spPr>
        <p:txBody>
          <a:bodyPr wrap="square" lIns="0" tIns="0" rIns="0" bIns="0" rtlCol="0" anchor="ctr"/>
          <a:lstStyle/>
          <a:p>
            <a:pPr indent="0" marL="0">
              <a:buNone/>
            </a:pPr>
            <a:r>
              <a:rPr lang="en-US" sz="900" b="1" spc="200" kern="0" dirty="0">
                <a:solidFill>
                  <a:srgbClr val="3A3FD1"/>
                </a:solidFill>
                <a:latin typeface="Figtree" pitchFamily="34" charset="0"/>
                <a:ea typeface="Figtree" pitchFamily="34" charset="-122"/>
                <a:cs typeface="Figtree" pitchFamily="34" charset="-120"/>
              </a:rPr>
              <a:t>ROUTE B</a:t>
            </a:r>
            <a:endParaRPr lang="en-US" sz="900" dirty="0"/>
          </a:p>
        </p:txBody>
      </p:sp>
      <p:sp>
        <p:nvSpPr>
          <p:cNvPr id="14" name="Text 12"/>
          <p:cNvSpPr txBox="1"/>
          <p:nvPr/>
        </p:nvSpPr>
        <p:spPr>
          <a:xfrm>
            <a:off x="4800600" y="2715768"/>
            <a:ext cx="3657600" cy="256032"/>
          </a:xfrm>
          <a:prstGeom prst="rect">
            <a:avLst/>
          </a:prstGeom>
          <a:noFill/>
          <a:ln/>
        </p:spPr>
        <p:txBody>
          <a:bodyPr wrap="square" lIns="0" tIns="0" rIns="0" bIns="0" rtlCol="0" anchor="ctr"/>
          <a:lstStyle/>
          <a:p>
            <a:pPr indent="0" marL="0">
              <a:buNone/>
            </a:pPr>
            <a:r>
              <a:rPr lang="en-US" sz="1300" b="1" dirty="0">
                <a:solidFill>
                  <a:srgbClr val="111A3D"/>
                </a:solidFill>
                <a:latin typeface="Literata" pitchFamily="34" charset="0"/>
                <a:ea typeface="Literata" pitchFamily="34" charset="-122"/>
                <a:cs typeface="Literata" pitchFamily="34" charset="-120"/>
              </a:rPr>
              <a:t>Keep it, with shortcuts</a:t>
            </a:r>
            <a:endParaRPr lang="en-US" sz="1300" dirty="0"/>
          </a:p>
        </p:txBody>
      </p:sp>
      <p:sp>
        <p:nvSpPr>
          <p:cNvPr id="15" name="Text 13"/>
          <p:cNvSpPr txBox="1"/>
          <p:nvPr/>
        </p:nvSpPr>
        <p:spPr>
          <a:xfrm>
            <a:off x="4800600" y="2953512"/>
            <a:ext cx="3657600" cy="457200"/>
          </a:xfrm>
          <a:prstGeom prst="rect">
            <a:avLst/>
          </a:prstGeom>
          <a:noFill/>
          <a:ln/>
        </p:spPr>
        <p:txBody>
          <a:bodyPr wrap="square" lIns="0" tIns="0" rIns="0" bIns="0" rtlCol="0" anchor="t"/>
          <a:lstStyle/>
          <a:p>
            <a:pPr indent="0" marL="0">
              <a:buNone/>
            </a:pPr>
            <a:r>
              <a:rPr lang="en-US" sz="900" dirty="0">
                <a:solidFill>
                  <a:srgbClr val="566089"/>
                </a:solidFill>
                <a:latin typeface="Figtree" pitchFamily="34" charset="0"/>
                <a:ea typeface="Figtree" pitchFamily="34" charset="-122"/>
                <a:cs typeface="Figtree" pitchFamily="34" charset="-120"/>
              </a:rPr>
              <a:t>Fits if: Your assessment is heavy, your value chain data has gaps, or you have acquisitions, disposals or joint operations in 2026.</a:t>
            </a:r>
            <a:endParaRPr lang="en-US" sz="900" dirty="0"/>
          </a:p>
        </p:txBody>
      </p:sp>
      <p:sp>
        <p:nvSpPr>
          <p:cNvPr id="16" name="Shape 14"/>
          <p:cNvSpPr/>
          <p:nvPr/>
        </p:nvSpPr>
        <p:spPr>
          <a:xfrm>
            <a:off x="4617720" y="3520440"/>
            <a:ext cx="3977640" cy="1005840"/>
          </a:xfrm>
          <a:prstGeom prst="roundRect">
            <a:avLst>
              <a:gd name="adj" fmla="val 9091"/>
            </a:avLst>
          </a:prstGeom>
          <a:solidFill>
            <a:srgbClr val="FFFFFF"/>
          </a:solidFill>
          <a:ln w="12700">
            <a:solidFill>
              <a:srgbClr val="DDE3F3"/>
            </a:solidFill>
            <a:prstDash val="solid"/>
          </a:ln>
        </p:spPr>
      </p:sp>
      <p:sp>
        <p:nvSpPr>
          <p:cNvPr id="17" name="Text 15"/>
          <p:cNvSpPr txBox="1"/>
          <p:nvPr/>
        </p:nvSpPr>
        <p:spPr>
          <a:xfrm>
            <a:off x="4800600" y="3611880"/>
            <a:ext cx="1371600" cy="201168"/>
          </a:xfrm>
          <a:prstGeom prst="rect">
            <a:avLst/>
          </a:prstGeom>
          <a:noFill/>
          <a:ln/>
        </p:spPr>
        <p:txBody>
          <a:bodyPr wrap="square" lIns="0" tIns="0" rIns="0" bIns="0" rtlCol="0" anchor="ctr"/>
          <a:lstStyle/>
          <a:p>
            <a:pPr indent="0" marL="0">
              <a:buNone/>
            </a:pPr>
            <a:r>
              <a:rPr lang="en-US" sz="900" b="1" spc="200" kern="0" dirty="0">
                <a:solidFill>
                  <a:srgbClr val="0C8F8F"/>
                </a:solidFill>
                <a:latin typeface="Figtree" pitchFamily="34" charset="0"/>
                <a:ea typeface="Figtree" pitchFamily="34" charset="-122"/>
                <a:cs typeface="Figtree" pitchFamily="34" charset="-120"/>
              </a:rPr>
              <a:t>ROUTE C</a:t>
            </a:r>
            <a:endParaRPr lang="en-US" sz="900" dirty="0"/>
          </a:p>
        </p:txBody>
      </p:sp>
      <p:sp>
        <p:nvSpPr>
          <p:cNvPr id="18" name="Text 16"/>
          <p:cNvSpPr txBox="1"/>
          <p:nvPr/>
        </p:nvSpPr>
        <p:spPr>
          <a:xfrm>
            <a:off x="4800600" y="3813048"/>
            <a:ext cx="3657600" cy="256032"/>
          </a:xfrm>
          <a:prstGeom prst="rect">
            <a:avLst/>
          </a:prstGeom>
          <a:noFill/>
          <a:ln/>
        </p:spPr>
        <p:txBody>
          <a:bodyPr wrap="square" lIns="0" tIns="0" rIns="0" bIns="0" rtlCol="0" anchor="ctr"/>
          <a:lstStyle/>
          <a:p>
            <a:pPr indent="0" marL="0">
              <a:buNone/>
            </a:pPr>
            <a:r>
              <a:rPr lang="en-US" sz="1300" b="1" dirty="0">
                <a:solidFill>
                  <a:srgbClr val="111A3D"/>
                </a:solidFill>
                <a:latin typeface="Literata" pitchFamily="34" charset="0"/>
                <a:ea typeface="Literata" pitchFamily="34" charset="-122"/>
                <a:cs typeface="Literata" pitchFamily="34" charset="-120"/>
              </a:rPr>
              <a:t>Switch early</a:t>
            </a:r>
            <a:endParaRPr lang="en-US" sz="1300" dirty="0"/>
          </a:p>
        </p:txBody>
      </p:sp>
      <p:sp>
        <p:nvSpPr>
          <p:cNvPr id="19" name="Text 17"/>
          <p:cNvSpPr txBox="1"/>
          <p:nvPr/>
        </p:nvSpPr>
        <p:spPr>
          <a:xfrm>
            <a:off x="4800600" y="4050792"/>
            <a:ext cx="3657600" cy="457200"/>
          </a:xfrm>
          <a:prstGeom prst="rect">
            <a:avLst/>
          </a:prstGeom>
          <a:noFill/>
          <a:ln/>
        </p:spPr>
        <p:txBody>
          <a:bodyPr wrap="square" lIns="0" tIns="0" rIns="0" bIns="0" rtlCol="0" anchor="t"/>
          <a:lstStyle/>
          <a:p>
            <a:pPr indent="0" marL="0">
              <a:buNone/>
            </a:pPr>
            <a:r>
              <a:rPr lang="en-US" sz="900" dirty="0">
                <a:solidFill>
                  <a:srgbClr val="566089"/>
                </a:solidFill>
                <a:latin typeface="Figtree" pitchFamily="34" charset="0"/>
                <a:ea typeface="Figtree" pitchFamily="34" charset="-122"/>
                <a:cs typeface="Figtree" pitchFamily="34" charset="-120"/>
              </a:rPr>
              <a:t>Fits if: You are starting with ESRS now, or you are redoing your assessment anyway and your systems and auditor are ready for the new structure.</a:t>
            </a:r>
            <a:endParaRPr lang="en-US" sz="900" dirty="0"/>
          </a:p>
        </p:txBody>
      </p:sp>
      <p:sp>
        <p:nvSpPr>
          <p:cNvPr id="20" name="Text 18"/>
          <p:cNvSpPr txBox="1"/>
          <p:nvPr/>
        </p:nvSpPr>
        <p:spPr>
          <a:xfrm>
            <a:off x="548640" y="4754880"/>
            <a:ext cx="6858000" cy="228600"/>
          </a:xfrm>
          <a:prstGeom prst="rect">
            <a:avLst/>
          </a:prstGeom>
          <a:noFill/>
          <a:ln/>
        </p:spPr>
        <p:txBody>
          <a:bodyPr wrap="square" lIns="0" tIns="0" rIns="0" bIns="0" rtlCol="0" anchor="ctr"/>
          <a:lstStyle/>
          <a:p>
            <a:pPr indent="0" marL="0">
              <a:buNone/>
            </a:pPr>
            <a:r>
              <a:rPr lang="en-US" sz="900" dirty="0">
                <a:solidFill>
                  <a:srgbClr val="566089"/>
                </a:solidFill>
                <a:latin typeface="Figtree" pitchFamily="34" charset="0"/>
                <a:ea typeface="Figtree" pitchFamily="34" charset="-122"/>
                <a:cs typeface="Figtree" pitchFamily="34" charset="-120"/>
              </a:rPr>
              <a:t>greenfriend. · Automated view from your inputs, without warranty, not legal advice</a:t>
            </a:r>
            <a:endParaRPr lang="en-US" sz="900" dirty="0"/>
          </a:p>
        </p:txBody>
      </p:sp>
      <p:sp>
        <p:nvSpPr>
          <p:cNvPr id="21" name="Text 19"/>
          <p:cNvSpPr txBox="1"/>
          <p:nvPr/>
        </p:nvSpPr>
        <p:spPr>
          <a:xfrm>
            <a:off x="8046720" y="4754880"/>
            <a:ext cx="548640" cy="228600"/>
          </a:xfrm>
          <a:prstGeom prst="rect">
            <a:avLst/>
          </a:prstGeom>
          <a:noFill/>
          <a:ln/>
        </p:spPr>
        <p:txBody>
          <a:bodyPr wrap="square" lIns="0" tIns="0" rIns="0" bIns="0" rtlCol="0" anchor="ctr"/>
          <a:lstStyle/>
          <a:p>
            <a:pPr algn="r" indent="0" marL="0">
              <a:buNone/>
            </a:pPr>
            <a:r>
              <a:rPr lang="en-US" sz="900" dirty="0">
                <a:solidFill>
                  <a:srgbClr val="566089"/>
                </a:solidFill>
                <a:latin typeface="Figtree" pitchFamily="34" charset="0"/>
                <a:ea typeface="Figtree" pitchFamily="34" charset="-122"/>
                <a:cs typeface="Figtree"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D"/>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28600"/>
          </a:xfrm>
          <a:prstGeom prst="rect">
            <a:avLst/>
          </a:prstGeom>
          <a:noFill/>
          <a:ln/>
        </p:spPr>
        <p:txBody>
          <a:bodyPr wrap="square" lIns="0" tIns="0" rIns="0" bIns="0" rtlCol="0" anchor="ctr"/>
          <a:lstStyle/>
          <a:p>
            <a:pPr indent="0" marL="0">
              <a:buNone/>
            </a:pPr>
            <a:r>
              <a:rPr lang="en-US" sz="1000" b="1" spc="200" kern="0" dirty="0">
                <a:solidFill>
                  <a:srgbClr val="3A3FD1"/>
                </a:solidFill>
                <a:latin typeface="Figtree" pitchFamily="34" charset="0"/>
                <a:ea typeface="Figtree" pitchFamily="34" charset="-122"/>
                <a:cs typeface="Figtree" pitchFamily="34" charset="-120"/>
              </a:rPr>
              <a:t>STEP 3</a:t>
            </a:r>
            <a:endParaRPr lang="en-US" sz="1000" dirty="0"/>
          </a:p>
        </p:txBody>
      </p:sp>
      <p:sp>
        <p:nvSpPr>
          <p:cNvPr id="3" name="Text 1"/>
          <p:cNvSpPr txBox="1"/>
          <p:nvPr/>
        </p:nvSpPr>
        <p:spPr>
          <a:xfrm>
            <a:off x="548640" y="621792"/>
            <a:ext cx="8046720" cy="548640"/>
          </a:xfrm>
          <a:prstGeom prst="rect">
            <a:avLst/>
          </a:prstGeom>
          <a:noFill/>
          <a:ln/>
        </p:spPr>
        <p:txBody>
          <a:bodyPr wrap="square" lIns="0" tIns="0" rIns="0" bIns="0" rtlCol="0" anchor="ctr"/>
          <a:lstStyle/>
          <a:p>
            <a:pPr indent="0" marL="0">
              <a:buNone/>
            </a:pPr>
            <a:r>
              <a:rPr lang="en-US" sz="2800" b="1" dirty="0">
                <a:solidFill>
                  <a:srgbClr val="111A3D"/>
                </a:solidFill>
                <a:latin typeface="Literata" pitchFamily="34" charset="0"/>
                <a:ea typeface="Literata" pitchFamily="34" charset="-122"/>
                <a:cs typeface="Literata" pitchFamily="34" charset="-120"/>
              </a:rPr>
              <a:t>Your datapoints</a:t>
            </a:r>
            <a:endParaRPr lang="en-US" sz="2800" dirty="0"/>
          </a:p>
        </p:txBody>
      </p:sp>
      <p:sp>
        <p:nvSpPr>
          <p:cNvPr id="4" name="Text 2"/>
          <p:cNvSpPr txBox="1"/>
          <p:nvPr/>
        </p:nvSpPr>
        <p:spPr>
          <a:xfrm>
            <a:off x="548640" y="1371600"/>
            <a:ext cx="1645920" cy="822960"/>
          </a:xfrm>
          <a:prstGeom prst="rect">
            <a:avLst/>
          </a:prstGeom>
          <a:noFill/>
          <a:ln/>
        </p:spPr>
        <p:txBody>
          <a:bodyPr wrap="square" lIns="0" tIns="0" rIns="0" bIns="0" rtlCol="0" anchor="ctr"/>
          <a:lstStyle/>
          <a:p>
            <a:pPr indent="0" marL="0">
              <a:buNone/>
            </a:pPr>
            <a:r>
              <a:rPr lang="en-US" sz="4800" b="1" strike="sngStrike" dirty="0">
                <a:solidFill>
                  <a:srgbClr val="566089"/>
                </a:solidFill>
                <a:latin typeface="Literata" pitchFamily="34" charset="0"/>
                <a:ea typeface="Literata" pitchFamily="34" charset="-122"/>
                <a:cs typeface="Literata" pitchFamily="34" charset="-120"/>
              </a:rPr>
              <a:t>385</a:t>
            </a:r>
            <a:endParaRPr lang="en-US" sz="4800" dirty="0"/>
          </a:p>
        </p:txBody>
      </p:sp>
      <p:sp>
        <p:nvSpPr>
          <p:cNvPr id="5" name="Text 3"/>
          <p:cNvSpPr txBox="1"/>
          <p:nvPr/>
        </p:nvSpPr>
        <p:spPr>
          <a:xfrm>
            <a:off x="2103120" y="1463040"/>
            <a:ext cx="548640" cy="640080"/>
          </a:xfrm>
          <a:prstGeom prst="rect">
            <a:avLst/>
          </a:prstGeom>
          <a:noFill/>
          <a:ln/>
        </p:spPr>
        <p:txBody>
          <a:bodyPr wrap="square" lIns="0" tIns="0" rIns="0" bIns="0" rtlCol="0" anchor="ctr"/>
          <a:lstStyle/>
          <a:p>
            <a:pPr indent="0" marL="0">
              <a:buNone/>
            </a:pPr>
            <a:r>
              <a:rPr lang="en-US" sz="2800" dirty="0">
                <a:solidFill>
                  <a:srgbClr val="566089"/>
                </a:solidFill>
                <a:latin typeface="Figtree" pitchFamily="34" charset="0"/>
                <a:ea typeface="Figtree" pitchFamily="34" charset="-122"/>
                <a:cs typeface="Figtree" pitchFamily="34" charset="-120"/>
              </a:rPr>
              <a:t>→</a:t>
            </a:r>
            <a:endParaRPr lang="en-US" sz="2800" dirty="0"/>
          </a:p>
        </p:txBody>
      </p:sp>
      <p:sp>
        <p:nvSpPr>
          <p:cNvPr id="6" name="Text 4"/>
          <p:cNvSpPr txBox="1"/>
          <p:nvPr/>
        </p:nvSpPr>
        <p:spPr>
          <a:xfrm>
            <a:off x="2743200" y="1371600"/>
            <a:ext cx="1645920" cy="822960"/>
          </a:xfrm>
          <a:prstGeom prst="rect">
            <a:avLst/>
          </a:prstGeom>
          <a:noFill/>
          <a:ln/>
        </p:spPr>
        <p:txBody>
          <a:bodyPr wrap="square" lIns="0" tIns="0" rIns="0" bIns="0" rtlCol="0" anchor="ctr"/>
          <a:lstStyle/>
          <a:p>
            <a:pPr indent="0" marL="0">
              <a:buNone/>
            </a:pPr>
            <a:r>
              <a:rPr lang="en-US" sz="4800" b="1" dirty="0">
                <a:solidFill>
                  <a:srgbClr val="3A3FD1"/>
                </a:solidFill>
                <a:latin typeface="Literata" pitchFamily="34" charset="0"/>
                <a:ea typeface="Literata" pitchFamily="34" charset="-122"/>
                <a:cs typeface="Literata" pitchFamily="34" charset="-120"/>
              </a:rPr>
              <a:t>166</a:t>
            </a:r>
            <a:endParaRPr lang="en-US" sz="4800" dirty="0"/>
          </a:p>
        </p:txBody>
      </p:sp>
      <p:sp>
        <p:nvSpPr>
          <p:cNvPr id="7" name="Shape 5"/>
          <p:cNvSpPr/>
          <p:nvPr/>
        </p:nvSpPr>
        <p:spPr>
          <a:xfrm>
            <a:off x="4480560" y="1600200"/>
            <a:ext cx="1005840" cy="411480"/>
          </a:xfrm>
          <a:prstGeom prst="roundRect">
            <a:avLst>
              <a:gd name="adj" fmla="val 44444"/>
            </a:avLst>
          </a:prstGeom>
          <a:solidFill>
            <a:srgbClr val="FFE27A"/>
          </a:solidFill>
          <a:ln w="12700">
            <a:solidFill>
              <a:srgbClr val="FFE27A"/>
            </a:solidFill>
            <a:prstDash val="solid"/>
          </a:ln>
        </p:spPr>
      </p:sp>
      <p:sp>
        <p:nvSpPr>
          <p:cNvPr id="8" name="Text 6"/>
          <p:cNvSpPr txBox="1"/>
          <p:nvPr/>
        </p:nvSpPr>
        <p:spPr>
          <a:xfrm>
            <a:off x="4480560" y="1600200"/>
            <a:ext cx="1005840" cy="411480"/>
          </a:xfrm>
          <a:prstGeom prst="rect">
            <a:avLst/>
          </a:prstGeom>
          <a:noFill/>
          <a:ln/>
        </p:spPr>
        <p:txBody>
          <a:bodyPr wrap="square" lIns="0" tIns="0" rIns="0" bIns="0" rtlCol="0" anchor="ctr"/>
          <a:lstStyle/>
          <a:p>
            <a:pPr algn="ctr" indent="0" marL="0">
              <a:buNone/>
            </a:pPr>
            <a:r>
              <a:rPr lang="en-US" sz="1400" b="1" dirty="0">
                <a:solidFill>
                  <a:srgbClr val="2A2400"/>
                </a:solidFill>
                <a:latin typeface="Figtree" pitchFamily="34" charset="0"/>
                <a:ea typeface="Figtree" pitchFamily="34" charset="-122"/>
                <a:cs typeface="Figtree" pitchFamily="34" charset="-120"/>
              </a:rPr>
              <a:t>−57%</a:t>
            </a:r>
            <a:endParaRPr lang="en-US" sz="1400" dirty="0"/>
          </a:p>
        </p:txBody>
      </p:sp>
      <p:sp>
        <p:nvSpPr>
          <p:cNvPr id="9" name="Text 7"/>
          <p:cNvSpPr txBox="1"/>
          <p:nvPr/>
        </p:nvSpPr>
        <p:spPr>
          <a:xfrm>
            <a:off x="548640" y="2468880"/>
            <a:ext cx="8046720" cy="731520"/>
          </a:xfrm>
          <a:prstGeom prst="rect">
            <a:avLst/>
          </a:prstGeom>
          <a:noFill/>
          <a:ln/>
        </p:spPr>
        <p:txBody>
          <a:bodyPr wrap="square" lIns="0" tIns="0" rIns="0" bIns="0" rtlCol="0" anchor="t"/>
          <a:lstStyle/>
          <a:p>
            <a:pPr indent="0" marL="0">
              <a:buNone/>
            </a:pPr>
            <a:r>
              <a:rPr lang="en-US" sz="1300" dirty="0">
                <a:solidFill>
                  <a:srgbClr val="111A3D"/>
                </a:solidFill>
                <a:latin typeface="Figtree" pitchFamily="34" charset="0"/>
                <a:ea typeface="Figtree" pitchFamily="34" charset="-122"/>
                <a:cs typeface="Figtree" pitchFamily="34" charset="-120"/>
              </a:rPr>
              <a:t>Mandatory datapoints for ESRS 2 plus E1 Climate change, E2 Pollution, E3 Water. 86 apply without conditions. Counts from EFRAG's 2026 Draft List of Datapoints, excluding the general datapoints repeated per policy, action, target and metric.</a:t>
            </a:r>
            <a:endParaRPr lang="en-US" sz="1300" dirty="0"/>
          </a:p>
        </p:txBody>
      </p:sp>
      <p:sp>
        <p:nvSpPr>
          <p:cNvPr id="10" name="Text 8"/>
          <p:cNvSpPr txBox="1"/>
          <p:nvPr/>
        </p:nvSpPr>
        <p:spPr>
          <a:xfrm>
            <a:off x="548640" y="3291840"/>
            <a:ext cx="8046720" cy="365760"/>
          </a:xfrm>
          <a:prstGeom prst="rect">
            <a:avLst/>
          </a:prstGeom>
          <a:noFill/>
          <a:ln/>
        </p:spPr>
        <p:txBody>
          <a:bodyPr wrap="square" lIns="0" tIns="0" rIns="0" bIns="0" rtlCol="0" anchor="ctr"/>
          <a:lstStyle/>
          <a:p>
            <a:pPr indent="0" marL="0">
              <a:buNone/>
            </a:pPr>
            <a:r>
              <a:rPr lang="en-US" sz="1200" dirty="0">
                <a:solidFill>
                  <a:srgbClr val="566089"/>
                </a:solidFill>
                <a:latin typeface="Figtree" pitchFamily="34" charset="0"/>
                <a:ea typeface="Figtree" pitchFamily="34" charset="-122"/>
                <a:cs typeface="Figtree" pitchFamily="34" charset="-120"/>
              </a:rPr>
              <a:t>Up to 292 if every topic turns out to be material in your double materiality assessment.</a:t>
            </a:r>
            <a:endParaRPr lang="en-US" sz="1200" dirty="0"/>
          </a:p>
        </p:txBody>
      </p:sp>
      <p:sp>
        <p:nvSpPr>
          <p:cNvPr id="11" name="Text 9"/>
          <p:cNvSpPr txBox="1"/>
          <p:nvPr/>
        </p:nvSpPr>
        <p:spPr>
          <a:xfrm>
            <a:off x="548640" y="4754880"/>
            <a:ext cx="6858000" cy="228600"/>
          </a:xfrm>
          <a:prstGeom prst="rect">
            <a:avLst/>
          </a:prstGeom>
          <a:noFill/>
          <a:ln/>
        </p:spPr>
        <p:txBody>
          <a:bodyPr wrap="square" lIns="0" tIns="0" rIns="0" bIns="0" rtlCol="0" anchor="ctr"/>
          <a:lstStyle/>
          <a:p>
            <a:pPr indent="0" marL="0">
              <a:buNone/>
            </a:pPr>
            <a:r>
              <a:rPr lang="en-US" sz="900" dirty="0">
                <a:solidFill>
                  <a:srgbClr val="566089"/>
                </a:solidFill>
                <a:latin typeface="Figtree" pitchFamily="34" charset="0"/>
                <a:ea typeface="Figtree" pitchFamily="34" charset="-122"/>
                <a:cs typeface="Figtree" pitchFamily="34" charset="-120"/>
              </a:rPr>
              <a:t>greenfriend. · Automated view from your inputs, without warranty, not legal advice</a:t>
            </a:r>
            <a:endParaRPr lang="en-US" sz="900" dirty="0"/>
          </a:p>
        </p:txBody>
      </p:sp>
      <p:sp>
        <p:nvSpPr>
          <p:cNvPr id="12" name="Text 10"/>
          <p:cNvSpPr txBox="1"/>
          <p:nvPr/>
        </p:nvSpPr>
        <p:spPr>
          <a:xfrm>
            <a:off x="8046720" y="4754880"/>
            <a:ext cx="548640" cy="228600"/>
          </a:xfrm>
          <a:prstGeom prst="rect">
            <a:avLst/>
          </a:prstGeom>
          <a:noFill/>
          <a:ln/>
        </p:spPr>
        <p:txBody>
          <a:bodyPr wrap="square" lIns="0" tIns="0" rIns="0" bIns="0" rtlCol="0" anchor="ctr"/>
          <a:lstStyle/>
          <a:p>
            <a:pPr algn="r" indent="0" marL="0">
              <a:buNone/>
            </a:pPr>
            <a:r>
              <a:rPr lang="en-US" sz="900" dirty="0">
                <a:solidFill>
                  <a:srgbClr val="566089"/>
                </a:solidFill>
                <a:latin typeface="Figtree" pitchFamily="34" charset="0"/>
                <a:ea typeface="Figtree" pitchFamily="34" charset="-122"/>
                <a:cs typeface="Figtree"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D"/>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28600"/>
          </a:xfrm>
          <a:prstGeom prst="rect">
            <a:avLst/>
          </a:prstGeom>
          <a:noFill/>
          <a:ln/>
        </p:spPr>
        <p:txBody>
          <a:bodyPr wrap="square" lIns="0" tIns="0" rIns="0" bIns="0" rtlCol="0" anchor="ctr"/>
          <a:lstStyle/>
          <a:p>
            <a:pPr indent="0" marL="0">
              <a:buNone/>
            </a:pPr>
            <a:r>
              <a:rPr lang="en-US" sz="1000" b="1" spc="200" kern="0" dirty="0">
                <a:solidFill>
                  <a:srgbClr val="3A3FD1"/>
                </a:solidFill>
                <a:latin typeface="Figtree" pitchFamily="34" charset="0"/>
                <a:ea typeface="Figtree" pitchFamily="34" charset="-122"/>
                <a:cs typeface="Figtree" pitchFamily="34" charset="-120"/>
              </a:rPr>
              <a:t>STEP 4</a:t>
            </a:r>
            <a:endParaRPr lang="en-US" sz="1000" dirty="0"/>
          </a:p>
        </p:txBody>
      </p:sp>
      <p:sp>
        <p:nvSpPr>
          <p:cNvPr id="3" name="Text 1"/>
          <p:cNvSpPr txBox="1"/>
          <p:nvPr/>
        </p:nvSpPr>
        <p:spPr>
          <a:xfrm>
            <a:off x="548640" y="621792"/>
            <a:ext cx="8046720" cy="548640"/>
          </a:xfrm>
          <a:prstGeom prst="rect">
            <a:avLst/>
          </a:prstGeom>
          <a:noFill/>
          <a:ln/>
        </p:spPr>
        <p:txBody>
          <a:bodyPr wrap="square" lIns="0" tIns="0" rIns="0" bIns="0" rtlCol="0" anchor="ctr"/>
          <a:lstStyle/>
          <a:p>
            <a:pPr indent="0" marL="0">
              <a:buNone/>
            </a:pPr>
            <a:r>
              <a:rPr lang="en-US" sz="2800" b="1" dirty="0">
                <a:solidFill>
                  <a:srgbClr val="111A3D"/>
                </a:solidFill>
                <a:latin typeface="Literata" pitchFamily="34" charset="0"/>
                <a:ea typeface="Literata" pitchFamily="34" charset="-122"/>
                <a:cs typeface="Literata" pitchFamily="34" charset="-120"/>
              </a:rPr>
              <a:t>Your 2027 roadmap</a:t>
            </a:r>
            <a:endParaRPr lang="en-US" sz="2800" dirty="0"/>
          </a:p>
        </p:txBody>
      </p:sp>
      <p:sp>
        <p:nvSpPr>
          <p:cNvPr id="4" name="Text 2"/>
          <p:cNvSpPr txBox="1"/>
          <p:nvPr/>
        </p:nvSpPr>
        <p:spPr>
          <a:xfrm>
            <a:off x="548640" y="1371600"/>
            <a:ext cx="473336" cy="182880"/>
          </a:xfrm>
          <a:prstGeom prst="rect">
            <a:avLst/>
          </a:prstGeom>
          <a:noFill/>
          <a:ln/>
        </p:spPr>
        <p:txBody>
          <a:bodyPr wrap="square" lIns="0" tIns="0" rIns="0" bIns="0" rtlCol="0" anchor="ctr"/>
          <a:lstStyle/>
          <a:p>
            <a:pPr algn="ctr" indent="0" marL="0">
              <a:buNone/>
            </a:pPr>
            <a:r>
              <a:rPr lang="en-US" sz="800" dirty="0">
                <a:solidFill>
                  <a:srgbClr val="566089"/>
                </a:solidFill>
                <a:latin typeface="Figtree" pitchFamily="34" charset="0"/>
                <a:ea typeface="Figtree" pitchFamily="34" charset="-122"/>
                <a:cs typeface="Figtree" pitchFamily="34" charset="-120"/>
              </a:rPr>
              <a:t>D</a:t>
            </a:r>
            <a:endParaRPr lang="en-US" sz="800" dirty="0"/>
          </a:p>
        </p:txBody>
      </p:sp>
      <p:sp>
        <p:nvSpPr>
          <p:cNvPr id="5" name="Text 3"/>
          <p:cNvSpPr txBox="1"/>
          <p:nvPr/>
        </p:nvSpPr>
        <p:spPr>
          <a:xfrm>
            <a:off x="1021976" y="1371600"/>
            <a:ext cx="473336" cy="182880"/>
          </a:xfrm>
          <a:prstGeom prst="rect">
            <a:avLst/>
          </a:prstGeom>
          <a:noFill/>
          <a:ln/>
        </p:spPr>
        <p:txBody>
          <a:bodyPr wrap="square" lIns="0" tIns="0" rIns="0" bIns="0" rtlCol="0" anchor="ctr"/>
          <a:lstStyle/>
          <a:p>
            <a:pPr algn="ctr" indent="0" marL="0">
              <a:buNone/>
            </a:pPr>
            <a:r>
              <a:rPr lang="en-US" sz="800" dirty="0">
                <a:solidFill>
                  <a:srgbClr val="566089"/>
                </a:solidFill>
                <a:latin typeface="Figtree" pitchFamily="34" charset="0"/>
                <a:ea typeface="Figtree" pitchFamily="34" charset="-122"/>
                <a:cs typeface="Figtree" pitchFamily="34" charset="-120"/>
              </a:rPr>
              <a:t>J</a:t>
            </a:r>
            <a:endParaRPr lang="en-US" sz="800" dirty="0"/>
          </a:p>
        </p:txBody>
      </p:sp>
      <p:sp>
        <p:nvSpPr>
          <p:cNvPr id="6" name="Text 4"/>
          <p:cNvSpPr txBox="1"/>
          <p:nvPr/>
        </p:nvSpPr>
        <p:spPr>
          <a:xfrm>
            <a:off x="1495313" y="1371600"/>
            <a:ext cx="473336" cy="182880"/>
          </a:xfrm>
          <a:prstGeom prst="rect">
            <a:avLst/>
          </a:prstGeom>
          <a:noFill/>
          <a:ln/>
        </p:spPr>
        <p:txBody>
          <a:bodyPr wrap="square" lIns="0" tIns="0" rIns="0" bIns="0" rtlCol="0" anchor="ctr"/>
          <a:lstStyle/>
          <a:p>
            <a:pPr algn="ctr" indent="0" marL="0">
              <a:buNone/>
            </a:pPr>
            <a:r>
              <a:rPr lang="en-US" sz="800" dirty="0">
                <a:solidFill>
                  <a:srgbClr val="566089"/>
                </a:solidFill>
                <a:latin typeface="Figtree" pitchFamily="34" charset="0"/>
                <a:ea typeface="Figtree" pitchFamily="34" charset="-122"/>
                <a:cs typeface="Figtree" pitchFamily="34" charset="-120"/>
              </a:rPr>
              <a:t>F</a:t>
            </a:r>
            <a:endParaRPr lang="en-US" sz="800" dirty="0"/>
          </a:p>
        </p:txBody>
      </p:sp>
      <p:sp>
        <p:nvSpPr>
          <p:cNvPr id="7" name="Text 5"/>
          <p:cNvSpPr txBox="1"/>
          <p:nvPr/>
        </p:nvSpPr>
        <p:spPr>
          <a:xfrm>
            <a:off x="1968649" y="1371600"/>
            <a:ext cx="473336" cy="182880"/>
          </a:xfrm>
          <a:prstGeom prst="rect">
            <a:avLst/>
          </a:prstGeom>
          <a:noFill/>
          <a:ln/>
        </p:spPr>
        <p:txBody>
          <a:bodyPr wrap="square" lIns="0" tIns="0" rIns="0" bIns="0" rtlCol="0" anchor="ctr"/>
          <a:lstStyle/>
          <a:p>
            <a:pPr algn="ctr" indent="0" marL="0">
              <a:buNone/>
            </a:pPr>
            <a:r>
              <a:rPr lang="en-US" sz="800" dirty="0">
                <a:solidFill>
                  <a:srgbClr val="566089"/>
                </a:solidFill>
                <a:latin typeface="Figtree" pitchFamily="34" charset="0"/>
                <a:ea typeface="Figtree" pitchFamily="34" charset="-122"/>
                <a:cs typeface="Figtree" pitchFamily="34" charset="-120"/>
              </a:rPr>
              <a:t>M</a:t>
            </a:r>
            <a:endParaRPr lang="en-US" sz="800" dirty="0"/>
          </a:p>
        </p:txBody>
      </p:sp>
      <p:sp>
        <p:nvSpPr>
          <p:cNvPr id="8" name="Text 6"/>
          <p:cNvSpPr txBox="1"/>
          <p:nvPr/>
        </p:nvSpPr>
        <p:spPr>
          <a:xfrm>
            <a:off x="2441986" y="1371600"/>
            <a:ext cx="473336" cy="182880"/>
          </a:xfrm>
          <a:prstGeom prst="rect">
            <a:avLst/>
          </a:prstGeom>
          <a:noFill/>
          <a:ln/>
        </p:spPr>
        <p:txBody>
          <a:bodyPr wrap="square" lIns="0" tIns="0" rIns="0" bIns="0" rtlCol="0" anchor="ctr"/>
          <a:lstStyle/>
          <a:p>
            <a:pPr algn="ctr" indent="0" marL="0">
              <a:buNone/>
            </a:pPr>
            <a:r>
              <a:rPr lang="en-US" sz="800" dirty="0">
                <a:solidFill>
                  <a:srgbClr val="566089"/>
                </a:solidFill>
                <a:latin typeface="Figtree" pitchFamily="34" charset="0"/>
                <a:ea typeface="Figtree" pitchFamily="34" charset="-122"/>
                <a:cs typeface="Figtree" pitchFamily="34" charset="-120"/>
              </a:rPr>
              <a:t>A</a:t>
            </a:r>
            <a:endParaRPr lang="en-US" sz="800" dirty="0"/>
          </a:p>
        </p:txBody>
      </p:sp>
      <p:sp>
        <p:nvSpPr>
          <p:cNvPr id="9" name="Text 7"/>
          <p:cNvSpPr txBox="1"/>
          <p:nvPr/>
        </p:nvSpPr>
        <p:spPr>
          <a:xfrm>
            <a:off x="2915322" y="1371600"/>
            <a:ext cx="473336" cy="182880"/>
          </a:xfrm>
          <a:prstGeom prst="rect">
            <a:avLst/>
          </a:prstGeom>
          <a:noFill/>
          <a:ln/>
        </p:spPr>
        <p:txBody>
          <a:bodyPr wrap="square" lIns="0" tIns="0" rIns="0" bIns="0" rtlCol="0" anchor="ctr"/>
          <a:lstStyle/>
          <a:p>
            <a:pPr algn="ctr" indent="0" marL="0">
              <a:buNone/>
            </a:pPr>
            <a:r>
              <a:rPr lang="en-US" sz="800" dirty="0">
                <a:solidFill>
                  <a:srgbClr val="566089"/>
                </a:solidFill>
                <a:latin typeface="Figtree" pitchFamily="34" charset="0"/>
                <a:ea typeface="Figtree" pitchFamily="34" charset="-122"/>
                <a:cs typeface="Figtree" pitchFamily="34" charset="-120"/>
              </a:rPr>
              <a:t>M</a:t>
            </a:r>
            <a:endParaRPr lang="en-US" sz="800" dirty="0"/>
          </a:p>
        </p:txBody>
      </p:sp>
      <p:sp>
        <p:nvSpPr>
          <p:cNvPr id="10" name="Text 8"/>
          <p:cNvSpPr txBox="1"/>
          <p:nvPr/>
        </p:nvSpPr>
        <p:spPr>
          <a:xfrm>
            <a:off x="3388659" y="1371600"/>
            <a:ext cx="473336" cy="182880"/>
          </a:xfrm>
          <a:prstGeom prst="rect">
            <a:avLst/>
          </a:prstGeom>
          <a:noFill/>
          <a:ln/>
        </p:spPr>
        <p:txBody>
          <a:bodyPr wrap="square" lIns="0" tIns="0" rIns="0" bIns="0" rtlCol="0" anchor="ctr"/>
          <a:lstStyle/>
          <a:p>
            <a:pPr algn="ctr" indent="0" marL="0">
              <a:buNone/>
            </a:pPr>
            <a:r>
              <a:rPr lang="en-US" sz="800" dirty="0">
                <a:solidFill>
                  <a:srgbClr val="566089"/>
                </a:solidFill>
                <a:latin typeface="Figtree" pitchFamily="34" charset="0"/>
                <a:ea typeface="Figtree" pitchFamily="34" charset="-122"/>
                <a:cs typeface="Figtree" pitchFamily="34" charset="-120"/>
              </a:rPr>
              <a:t>J</a:t>
            </a:r>
            <a:endParaRPr lang="en-US" sz="800" dirty="0"/>
          </a:p>
        </p:txBody>
      </p:sp>
      <p:sp>
        <p:nvSpPr>
          <p:cNvPr id="11" name="Text 9"/>
          <p:cNvSpPr txBox="1"/>
          <p:nvPr/>
        </p:nvSpPr>
        <p:spPr>
          <a:xfrm>
            <a:off x="3861995" y="1371600"/>
            <a:ext cx="473336" cy="182880"/>
          </a:xfrm>
          <a:prstGeom prst="rect">
            <a:avLst/>
          </a:prstGeom>
          <a:noFill/>
          <a:ln/>
        </p:spPr>
        <p:txBody>
          <a:bodyPr wrap="square" lIns="0" tIns="0" rIns="0" bIns="0" rtlCol="0" anchor="ctr"/>
          <a:lstStyle/>
          <a:p>
            <a:pPr algn="ctr" indent="0" marL="0">
              <a:buNone/>
            </a:pPr>
            <a:r>
              <a:rPr lang="en-US" sz="800" dirty="0">
                <a:solidFill>
                  <a:srgbClr val="566089"/>
                </a:solidFill>
                <a:latin typeface="Figtree" pitchFamily="34" charset="0"/>
                <a:ea typeface="Figtree" pitchFamily="34" charset="-122"/>
                <a:cs typeface="Figtree" pitchFamily="34" charset="-120"/>
              </a:rPr>
              <a:t>J</a:t>
            </a:r>
            <a:endParaRPr lang="en-US" sz="800" dirty="0"/>
          </a:p>
        </p:txBody>
      </p:sp>
      <p:sp>
        <p:nvSpPr>
          <p:cNvPr id="12" name="Text 10"/>
          <p:cNvSpPr txBox="1"/>
          <p:nvPr/>
        </p:nvSpPr>
        <p:spPr>
          <a:xfrm>
            <a:off x="4335332" y="1371600"/>
            <a:ext cx="473336" cy="182880"/>
          </a:xfrm>
          <a:prstGeom prst="rect">
            <a:avLst/>
          </a:prstGeom>
          <a:noFill/>
          <a:ln/>
        </p:spPr>
        <p:txBody>
          <a:bodyPr wrap="square" lIns="0" tIns="0" rIns="0" bIns="0" rtlCol="0" anchor="ctr"/>
          <a:lstStyle/>
          <a:p>
            <a:pPr algn="ctr" indent="0" marL="0">
              <a:buNone/>
            </a:pPr>
            <a:r>
              <a:rPr lang="en-US" sz="800" dirty="0">
                <a:solidFill>
                  <a:srgbClr val="566089"/>
                </a:solidFill>
                <a:latin typeface="Figtree" pitchFamily="34" charset="0"/>
                <a:ea typeface="Figtree" pitchFamily="34" charset="-122"/>
                <a:cs typeface="Figtree" pitchFamily="34" charset="-120"/>
              </a:rPr>
              <a:t>A</a:t>
            </a:r>
            <a:endParaRPr lang="en-US" sz="800" dirty="0"/>
          </a:p>
        </p:txBody>
      </p:sp>
      <p:sp>
        <p:nvSpPr>
          <p:cNvPr id="13" name="Text 11"/>
          <p:cNvSpPr txBox="1"/>
          <p:nvPr/>
        </p:nvSpPr>
        <p:spPr>
          <a:xfrm>
            <a:off x="4808668" y="1371600"/>
            <a:ext cx="473336" cy="182880"/>
          </a:xfrm>
          <a:prstGeom prst="rect">
            <a:avLst/>
          </a:prstGeom>
          <a:noFill/>
          <a:ln/>
        </p:spPr>
        <p:txBody>
          <a:bodyPr wrap="square" lIns="0" tIns="0" rIns="0" bIns="0" rtlCol="0" anchor="ctr"/>
          <a:lstStyle/>
          <a:p>
            <a:pPr algn="ctr" indent="0" marL="0">
              <a:buNone/>
            </a:pPr>
            <a:r>
              <a:rPr lang="en-US" sz="800" dirty="0">
                <a:solidFill>
                  <a:srgbClr val="566089"/>
                </a:solidFill>
                <a:latin typeface="Figtree" pitchFamily="34" charset="0"/>
                <a:ea typeface="Figtree" pitchFamily="34" charset="-122"/>
                <a:cs typeface="Figtree" pitchFamily="34" charset="-120"/>
              </a:rPr>
              <a:t>S</a:t>
            </a:r>
            <a:endParaRPr lang="en-US" sz="800" dirty="0"/>
          </a:p>
        </p:txBody>
      </p:sp>
      <p:sp>
        <p:nvSpPr>
          <p:cNvPr id="14" name="Text 12"/>
          <p:cNvSpPr txBox="1"/>
          <p:nvPr/>
        </p:nvSpPr>
        <p:spPr>
          <a:xfrm>
            <a:off x="5282005" y="1371600"/>
            <a:ext cx="473336" cy="182880"/>
          </a:xfrm>
          <a:prstGeom prst="rect">
            <a:avLst/>
          </a:prstGeom>
          <a:noFill/>
          <a:ln/>
        </p:spPr>
        <p:txBody>
          <a:bodyPr wrap="square" lIns="0" tIns="0" rIns="0" bIns="0" rtlCol="0" anchor="ctr"/>
          <a:lstStyle/>
          <a:p>
            <a:pPr algn="ctr" indent="0" marL="0">
              <a:buNone/>
            </a:pPr>
            <a:r>
              <a:rPr lang="en-US" sz="800" dirty="0">
                <a:solidFill>
                  <a:srgbClr val="566089"/>
                </a:solidFill>
                <a:latin typeface="Figtree" pitchFamily="34" charset="0"/>
                <a:ea typeface="Figtree" pitchFamily="34" charset="-122"/>
                <a:cs typeface="Figtree" pitchFamily="34" charset="-120"/>
              </a:rPr>
              <a:t>O</a:t>
            </a:r>
            <a:endParaRPr lang="en-US" sz="800" dirty="0"/>
          </a:p>
        </p:txBody>
      </p:sp>
      <p:sp>
        <p:nvSpPr>
          <p:cNvPr id="15" name="Text 13"/>
          <p:cNvSpPr txBox="1"/>
          <p:nvPr/>
        </p:nvSpPr>
        <p:spPr>
          <a:xfrm>
            <a:off x="5755341" y="1371600"/>
            <a:ext cx="473336" cy="182880"/>
          </a:xfrm>
          <a:prstGeom prst="rect">
            <a:avLst/>
          </a:prstGeom>
          <a:noFill/>
          <a:ln/>
        </p:spPr>
        <p:txBody>
          <a:bodyPr wrap="square" lIns="0" tIns="0" rIns="0" bIns="0" rtlCol="0" anchor="ctr"/>
          <a:lstStyle/>
          <a:p>
            <a:pPr algn="ctr" indent="0" marL="0">
              <a:buNone/>
            </a:pPr>
            <a:r>
              <a:rPr lang="en-US" sz="800" dirty="0">
                <a:solidFill>
                  <a:srgbClr val="566089"/>
                </a:solidFill>
                <a:latin typeface="Figtree" pitchFamily="34" charset="0"/>
                <a:ea typeface="Figtree" pitchFamily="34" charset="-122"/>
                <a:cs typeface="Figtree" pitchFamily="34" charset="-120"/>
              </a:rPr>
              <a:t>N</a:t>
            </a:r>
            <a:endParaRPr lang="en-US" sz="800" dirty="0"/>
          </a:p>
        </p:txBody>
      </p:sp>
      <p:sp>
        <p:nvSpPr>
          <p:cNvPr id="16" name="Text 14"/>
          <p:cNvSpPr txBox="1"/>
          <p:nvPr/>
        </p:nvSpPr>
        <p:spPr>
          <a:xfrm>
            <a:off x="6228678" y="1371600"/>
            <a:ext cx="473336" cy="182880"/>
          </a:xfrm>
          <a:prstGeom prst="rect">
            <a:avLst/>
          </a:prstGeom>
          <a:noFill/>
          <a:ln/>
        </p:spPr>
        <p:txBody>
          <a:bodyPr wrap="square" lIns="0" tIns="0" rIns="0" bIns="0" rtlCol="0" anchor="ctr"/>
          <a:lstStyle/>
          <a:p>
            <a:pPr algn="ctr" indent="0" marL="0">
              <a:buNone/>
            </a:pPr>
            <a:r>
              <a:rPr lang="en-US" sz="800" dirty="0">
                <a:solidFill>
                  <a:srgbClr val="566089"/>
                </a:solidFill>
                <a:latin typeface="Figtree" pitchFamily="34" charset="0"/>
                <a:ea typeface="Figtree" pitchFamily="34" charset="-122"/>
                <a:cs typeface="Figtree" pitchFamily="34" charset="-120"/>
              </a:rPr>
              <a:t>D</a:t>
            </a:r>
            <a:endParaRPr lang="en-US" sz="800" dirty="0"/>
          </a:p>
        </p:txBody>
      </p:sp>
      <p:sp>
        <p:nvSpPr>
          <p:cNvPr id="17" name="Text 15"/>
          <p:cNvSpPr txBox="1"/>
          <p:nvPr/>
        </p:nvSpPr>
        <p:spPr>
          <a:xfrm>
            <a:off x="6702014" y="1371600"/>
            <a:ext cx="473336" cy="182880"/>
          </a:xfrm>
          <a:prstGeom prst="rect">
            <a:avLst/>
          </a:prstGeom>
          <a:noFill/>
          <a:ln/>
        </p:spPr>
        <p:txBody>
          <a:bodyPr wrap="square" lIns="0" tIns="0" rIns="0" bIns="0" rtlCol="0" anchor="ctr"/>
          <a:lstStyle/>
          <a:p>
            <a:pPr algn="ctr" indent="0" marL="0">
              <a:buNone/>
            </a:pPr>
            <a:r>
              <a:rPr lang="en-US" sz="800" dirty="0">
                <a:solidFill>
                  <a:srgbClr val="566089"/>
                </a:solidFill>
                <a:latin typeface="Figtree" pitchFamily="34" charset="0"/>
                <a:ea typeface="Figtree" pitchFamily="34" charset="-122"/>
                <a:cs typeface="Figtree" pitchFamily="34" charset="-120"/>
              </a:rPr>
              <a:t>J</a:t>
            </a:r>
            <a:endParaRPr lang="en-US" sz="800" dirty="0"/>
          </a:p>
        </p:txBody>
      </p:sp>
      <p:sp>
        <p:nvSpPr>
          <p:cNvPr id="18" name="Text 16"/>
          <p:cNvSpPr txBox="1"/>
          <p:nvPr/>
        </p:nvSpPr>
        <p:spPr>
          <a:xfrm>
            <a:off x="7175351" y="1371600"/>
            <a:ext cx="473336" cy="182880"/>
          </a:xfrm>
          <a:prstGeom prst="rect">
            <a:avLst/>
          </a:prstGeom>
          <a:noFill/>
          <a:ln/>
        </p:spPr>
        <p:txBody>
          <a:bodyPr wrap="square" lIns="0" tIns="0" rIns="0" bIns="0" rtlCol="0" anchor="ctr"/>
          <a:lstStyle/>
          <a:p>
            <a:pPr algn="ctr" indent="0" marL="0">
              <a:buNone/>
            </a:pPr>
            <a:r>
              <a:rPr lang="en-US" sz="800" dirty="0">
                <a:solidFill>
                  <a:srgbClr val="566089"/>
                </a:solidFill>
                <a:latin typeface="Figtree" pitchFamily="34" charset="0"/>
                <a:ea typeface="Figtree" pitchFamily="34" charset="-122"/>
                <a:cs typeface="Figtree" pitchFamily="34" charset="-120"/>
              </a:rPr>
              <a:t>F</a:t>
            </a:r>
            <a:endParaRPr lang="en-US" sz="800" dirty="0"/>
          </a:p>
        </p:txBody>
      </p:sp>
      <p:sp>
        <p:nvSpPr>
          <p:cNvPr id="19" name="Text 17"/>
          <p:cNvSpPr txBox="1"/>
          <p:nvPr/>
        </p:nvSpPr>
        <p:spPr>
          <a:xfrm>
            <a:off x="7648687" y="1371600"/>
            <a:ext cx="473336" cy="182880"/>
          </a:xfrm>
          <a:prstGeom prst="rect">
            <a:avLst/>
          </a:prstGeom>
          <a:noFill/>
          <a:ln/>
        </p:spPr>
        <p:txBody>
          <a:bodyPr wrap="square" lIns="0" tIns="0" rIns="0" bIns="0" rtlCol="0" anchor="ctr"/>
          <a:lstStyle/>
          <a:p>
            <a:pPr algn="ctr" indent="0" marL="0">
              <a:buNone/>
            </a:pPr>
            <a:r>
              <a:rPr lang="en-US" sz="800" dirty="0">
                <a:solidFill>
                  <a:srgbClr val="566089"/>
                </a:solidFill>
                <a:latin typeface="Figtree" pitchFamily="34" charset="0"/>
                <a:ea typeface="Figtree" pitchFamily="34" charset="-122"/>
                <a:cs typeface="Figtree" pitchFamily="34" charset="-120"/>
              </a:rPr>
              <a:t>M</a:t>
            </a:r>
            <a:endParaRPr lang="en-US" sz="800" dirty="0"/>
          </a:p>
        </p:txBody>
      </p:sp>
      <p:sp>
        <p:nvSpPr>
          <p:cNvPr id="20" name="Text 18"/>
          <p:cNvSpPr txBox="1"/>
          <p:nvPr/>
        </p:nvSpPr>
        <p:spPr>
          <a:xfrm>
            <a:off x="8122024" y="1371600"/>
            <a:ext cx="473336" cy="182880"/>
          </a:xfrm>
          <a:prstGeom prst="rect">
            <a:avLst/>
          </a:prstGeom>
          <a:noFill/>
          <a:ln/>
        </p:spPr>
        <p:txBody>
          <a:bodyPr wrap="square" lIns="0" tIns="0" rIns="0" bIns="0" rtlCol="0" anchor="ctr"/>
          <a:lstStyle/>
          <a:p>
            <a:pPr algn="ctr" indent="0" marL="0">
              <a:buNone/>
            </a:pPr>
            <a:r>
              <a:rPr lang="en-US" sz="800" dirty="0">
                <a:solidFill>
                  <a:srgbClr val="566089"/>
                </a:solidFill>
                <a:latin typeface="Figtree" pitchFamily="34" charset="0"/>
                <a:ea typeface="Figtree" pitchFamily="34" charset="-122"/>
                <a:cs typeface="Figtree" pitchFamily="34" charset="-120"/>
              </a:rPr>
              <a:t>A</a:t>
            </a:r>
            <a:endParaRPr lang="en-US" sz="800" dirty="0"/>
          </a:p>
        </p:txBody>
      </p:sp>
      <p:sp>
        <p:nvSpPr>
          <p:cNvPr id="21" name="Text 19"/>
          <p:cNvSpPr txBox="1"/>
          <p:nvPr/>
        </p:nvSpPr>
        <p:spPr>
          <a:xfrm>
            <a:off x="548640" y="1188720"/>
            <a:ext cx="731520" cy="182880"/>
          </a:xfrm>
          <a:prstGeom prst="rect">
            <a:avLst/>
          </a:prstGeom>
          <a:noFill/>
          <a:ln/>
        </p:spPr>
        <p:txBody>
          <a:bodyPr wrap="square" lIns="0" tIns="0" rIns="0" bIns="0" rtlCol="0" anchor="ctr"/>
          <a:lstStyle/>
          <a:p>
            <a:pPr indent="0" marL="0">
              <a:buNone/>
            </a:pPr>
            <a:r>
              <a:rPr lang="en-US" sz="900" b="1" dirty="0">
                <a:solidFill>
                  <a:srgbClr val="3A3FD1"/>
                </a:solidFill>
                <a:latin typeface="Figtree" pitchFamily="34" charset="0"/>
                <a:ea typeface="Figtree" pitchFamily="34" charset="-122"/>
                <a:cs typeface="Figtree" pitchFamily="34" charset="-120"/>
              </a:rPr>
              <a:t>2026</a:t>
            </a:r>
            <a:endParaRPr lang="en-US" sz="900" dirty="0"/>
          </a:p>
        </p:txBody>
      </p:sp>
      <p:sp>
        <p:nvSpPr>
          <p:cNvPr id="22" name="Shape 20"/>
          <p:cNvSpPr/>
          <p:nvPr/>
        </p:nvSpPr>
        <p:spPr>
          <a:xfrm>
            <a:off x="548640" y="1591056"/>
            <a:ext cx="946673" cy="160020"/>
          </a:xfrm>
          <a:prstGeom prst="roundRect">
            <a:avLst>
              <a:gd name="adj" fmla="val 45714"/>
            </a:avLst>
          </a:prstGeom>
          <a:solidFill>
            <a:srgbClr val="3A3FD1"/>
          </a:solidFill>
          <a:ln w="12700">
            <a:solidFill>
              <a:srgbClr val="3A3FD1"/>
            </a:solidFill>
            <a:prstDash val="solid"/>
          </a:ln>
        </p:spPr>
      </p:sp>
      <p:sp>
        <p:nvSpPr>
          <p:cNvPr id="23" name="Text 21"/>
          <p:cNvSpPr txBox="1"/>
          <p:nvPr/>
        </p:nvSpPr>
        <p:spPr>
          <a:xfrm>
            <a:off x="603504" y="1591056"/>
            <a:ext cx="855233" cy="160020"/>
          </a:xfrm>
          <a:prstGeom prst="rect">
            <a:avLst/>
          </a:prstGeom>
          <a:noFill/>
          <a:ln/>
        </p:spPr>
        <p:txBody>
          <a:bodyPr wrap="square" lIns="0" tIns="0" rIns="0" bIns="0" rtlCol="0" anchor="ctr">
            <a:normAutofit/>
          </a:bodyPr>
          <a:lstStyle/>
          <a:p>
            <a:pPr indent="0" marL="0">
              <a:buNone/>
            </a:pPr>
            <a:r>
              <a:rPr lang="en-US" sz="800" b="1" dirty="0">
                <a:solidFill>
                  <a:srgbClr val="FFFFFF"/>
                </a:solidFill>
                <a:latin typeface="Figtree" pitchFamily="34" charset="0"/>
                <a:ea typeface="Figtree" pitchFamily="34" charset="-122"/>
                <a:cs typeface="Figtree" pitchFamily="34" charset="-120"/>
              </a:rPr>
              <a:t>Route A, B or C</a:t>
            </a:r>
            <a:endParaRPr lang="en-US" sz="800" dirty="0"/>
          </a:p>
        </p:txBody>
      </p:sp>
      <p:sp>
        <p:nvSpPr>
          <p:cNvPr id="24" name="Shape 22"/>
          <p:cNvSpPr/>
          <p:nvPr/>
        </p:nvSpPr>
        <p:spPr>
          <a:xfrm>
            <a:off x="1021976" y="1787652"/>
            <a:ext cx="946673" cy="160020"/>
          </a:xfrm>
          <a:prstGeom prst="roundRect">
            <a:avLst>
              <a:gd name="adj" fmla="val 45714"/>
            </a:avLst>
          </a:prstGeom>
          <a:solidFill>
            <a:srgbClr val="3A3FD1"/>
          </a:solidFill>
          <a:ln w="12700">
            <a:solidFill>
              <a:srgbClr val="3A3FD1"/>
            </a:solidFill>
            <a:prstDash val="solid"/>
          </a:ln>
        </p:spPr>
      </p:sp>
      <p:sp>
        <p:nvSpPr>
          <p:cNvPr id="25" name="Text 23"/>
          <p:cNvSpPr txBox="1"/>
          <p:nvPr/>
        </p:nvSpPr>
        <p:spPr>
          <a:xfrm>
            <a:off x="1076840" y="1787652"/>
            <a:ext cx="855233" cy="160020"/>
          </a:xfrm>
          <a:prstGeom prst="rect">
            <a:avLst/>
          </a:prstGeom>
          <a:noFill/>
          <a:ln/>
        </p:spPr>
        <p:txBody>
          <a:bodyPr wrap="square" lIns="0" tIns="0" rIns="0" bIns="0" rtlCol="0" anchor="ctr">
            <a:normAutofit/>
          </a:bodyPr>
          <a:lstStyle/>
          <a:p>
            <a:pPr indent="0" marL="0">
              <a:buNone/>
            </a:pPr>
            <a:r>
              <a:rPr lang="en-US" sz="800" b="1" dirty="0">
                <a:solidFill>
                  <a:srgbClr val="FFFFFF"/>
                </a:solidFill>
                <a:latin typeface="Figtree" pitchFamily="34" charset="0"/>
                <a:ea typeface="Figtree" pitchFamily="34" charset="-122"/>
                <a:cs typeface="Figtree" pitchFamily="34" charset="-120"/>
              </a:rPr>
              <a:t>Year-end data</a:t>
            </a:r>
            <a:endParaRPr lang="en-US" sz="800" dirty="0"/>
          </a:p>
        </p:txBody>
      </p:sp>
      <p:sp>
        <p:nvSpPr>
          <p:cNvPr id="26" name="Shape 24"/>
          <p:cNvSpPr/>
          <p:nvPr/>
        </p:nvSpPr>
        <p:spPr>
          <a:xfrm>
            <a:off x="1495313" y="1984248"/>
            <a:ext cx="946673" cy="160020"/>
          </a:xfrm>
          <a:prstGeom prst="roundRect">
            <a:avLst>
              <a:gd name="adj" fmla="val 45714"/>
            </a:avLst>
          </a:prstGeom>
          <a:solidFill>
            <a:srgbClr val="3A3FD1"/>
          </a:solidFill>
          <a:ln w="12700">
            <a:solidFill>
              <a:srgbClr val="3A3FD1"/>
            </a:solidFill>
            <a:prstDash val="solid"/>
          </a:ln>
        </p:spPr>
      </p:sp>
      <p:sp>
        <p:nvSpPr>
          <p:cNvPr id="27" name="Text 25"/>
          <p:cNvSpPr txBox="1"/>
          <p:nvPr/>
        </p:nvSpPr>
        <p:spPr>
          <a:xfrm>
            <a:off x="1550177" y="1984248"/>
            <a:ext cx="855233" cy="160020"/>
          </a:xfrm>
          <a:prstGeom prst="rect">
            <a:avLst/>
          </a:prstGeom>
          <a:noFill/>
          <a:ln/>
        </p:spPr>
        <p:txBody>
          <a:bodyPr wrap="square" lIns="0" tIns="0" rIns="0" bIns="0" rtlCol="0" anchor="ctr">
            <a:normAutofit/>
          </a:bodyPr>
          <a:lstStyle/>
          <a:p>
            <a:pPr indent="0" marL="0">
              <a:buNone/>
            </a:pPr>
            <a:r>
              <a:rPr lang="en-US" sz="800" b="1" dirty="0">
                <a:solidFill>
                  <a:srgbClr val="FFFFFF"/>
                </a:solidFill>
                <a:latin typeface="Figtree" pitchFamily="34" charset="0"/>
                <a:ea typeface="Figtree" pitchFamily="34" charset="-122"/>
                <a:cs typeface="Figtree" pitchFamily="34" charset="-120"/>
              </a:rPr>
              <a:t>Draft statement</a:t>
            </a:r>
            <a:endParaRPr lang="en-US" sz="800" dirty="0"/>
          </a:p>
        </p:txBody>
      </p:sp>
      <p:sp>
        <p:nvSpPr>
          <p:cNvPr id="28" name="Shape 26"/>
          <p:cNvSpPr/>
          <p:nvPr/>
        </p:nvSpPr>
        <p:spPr>
          <a:xfrm>
            <a:off x="1968649" y="2180844"/>
            <a:ext cx="946673" cy="160020"/>
          </a:xfrm>
          <a:prstGeom prst="roundRect">
            <a:avLst>
              <a:gd name="adj" fmla="val 45714"/>
            </a:avLst>
          </a:prstGeom>
          <a:solidFill>
            <a:srgbClr val="3A3FD1"/>
          </a:solidFill>
          <a:ln w="12700">
            <a:solidFill>
              <a:srgbClr val="3A3FD1"/>
            </a:solidFill>
            <a:prstDash val="solid"/>
          </a:ln>
        </p:spPr>
      </p:sp>
      <p:sp>
        <p:nvSpPr>
          <p:cNvPr id="29" name="Text 27"/>
          <p:cNvSpPr txBox="1"/>
          <p:nvPr/>
        </p:nvSpPr>
        <p:spPr>
          <a:xfrm>
            <a:off x="2023513" y="2180844"/>
            <a:ext cx="855233" cy="160020"/>
          </a:xfrm>
          <a:prstGeom prst="rect">
            <a:avLst/>
          </a:prstGeom>
          <a:noFill/>
          <a:ln/>
        </p:spPr>
        <p:txBody>
          <a:bodyPr wrap="square" lIns="0" tIns="0" rIns="0" bIns="0" rtlCol="0" anchor="ctr">
            <a:normAutofit/>
          </a:bodyPr>
          <a:lstStyle/>
          <a:p>
            <a:pPr indent="0" marL="0">
              <a:buNone/>
            </a:pPr>
            <a:r>
              <a:rPr lang="en-US" sz="800" b="1" dirty="0">
                <a:solidFill>
                  <a:srgbClr val="FFFFFF"/>
                </a:solidFill>
                <a:latin typeface="Figtree" pitchFamily="34" charset="0"/>
                <a:ea typeface="Figtree" pitchFamily="34" charset="-122"/>
                <a:cs typeface="Figtree" pitchFamily="34" charset="-120"/>
              </a:rPr>
              <a:t>Assurance</a:t>
            </a:r>
            <a:endParaRPr lang="en-US" sz="800" dirty="0"/>
          </a:p>
        </p:txBody>
      </p:sp>
      <p:sp>
        <p:nvSpPr>
          <p:cNvPr id="30" name="Shape 28"/>
          <p:cNvSpPr/>
          <p:nvPr/>
        </p:nvSpPr>
        <p:spPr>
          <a:xfrm>
            <a:off x="2441986" y="2377440"/>
            <a:ext cx="473336" cy="160020"/>
          </a:xfrm>
          <a:prstGeom prst="roundRect">
            <a:avLst>
              <a:gd name="adj" fmla="val 45714"/>
            </a:avLst>
          </a:prstGeom>
          <a:solidFill>
            <a:srgbClr val="3A3FD1"/>
          </a:solidFill>
          <a:ln w="12700">
            <a:solidFill>
              <a:srgbClr val="3A3FD1"/>
            </a:solidFill>
            <a:prstDash val="solid"/>
          </a:ln>
        </p:spPr>
      </p:sp>
      <p:sp>
        <p:nvSpPr>
          <p:cNvPr id="31" name="Text 29"/>
          <p:cNvSpPr txBox="1"/>
          <p:nvPr/>
        </p:nvSpPr>
        <p:spPr>
          <a:xfrm>
            <a:off x="2496850" y="2377440"/>
            <a:ext cx="381896" cy="160020"/>
          </a:xfrm>
          <a:prstGeom prst="rect">
            <a:avLst/>
          </a:prstGeom>
          <a:noFill/>
          <a:ln/>
        </p:spPr>
        <p:txBody>
          <a:bodyPr wrap="square" lIns="0" tIns="0" rIns="0" bIns="0" rtlCol="0" anchor="ctr">
            <a:normAutofit/>
          </a:bodyPr>
          <a:lstStyle/>
          <a:p>
            <a:pPr indent="0" marL="0">
              <a:buNone/>
            </a:pPr>
            <a:r>
              <a:rPr lang="en-US" sz="800" b="1" dirty="0">
                <a:solidFill>
                  <a:srgbClr val="FFFFFF"/>
                </a:solidFill>
                <a:latin typeface="Figtree" pitchFamily="34" charset="0"/>
                <a:ea typeface="Figtree" pitchFamily="34" charset="-122"/>
                <a:cs typeface="Figtree" pitchFamily="34" charset="-120"/>
              </a:rPr>
              <a:t>Publish</a:t>
            </a:r>
            <a:endParaRPr lang="en-US" sz="800" dirty="0"/>
          </a:p>
        </p:txBody>
      </p:sp>
      <p:sp>
        <p:nvSpPr>
          <p:cNvPr id="32" name="Shape 30"/>
          <p:cNvSpPr/>
          <p:nvPr/>
        </p:nvSpPr>
        <p:spPr>
          <a:xfrm>
            <a:off x="2915322" y="2574036"/>
            <a:ext cx="1420009" cy="160020"/>
          </a:xfrm>
          <a:prstGeom prst="roundRect">
            <a:avLst>
              <a:gd name="adj" fmla="val 45714"/>
            </a:avLst>
          </a:prstGeom>
          <a:solidFill>
            <a:srgbClr val="3A3FD1"/>
          </a:solidFill>
          <a:ln w="12700">
            <a:solidFill>
              <a:srgbClr val="3A3FD1"/>
            </a:solidFill>
            <a:prstDash val="solid"/>
          </a:ln>
        </p:spPr>
      </p:sp>
      <p:sp>
        <p:nvSpPr>
          <p:cNvPr id="33" name="Text 31"/>
          <p:cNvSpPr txBox="1"/>
          <p:nvPr/>
        </p:nvSpPr>
        <p:spPr>
          <a:xfrm>
            <a:off x="2970186" y="2574036"/>
            <a:ext cx="1328569" cy="160020"/>
          </a:xfrm>
          <a:prstGeom prst="rect">
            <a:avLst/>
          </a:prstGeom>
          <a:noFill/>
          <a:ln/>
        </p:spPr>
        <p:txBody>
          <a:bodyPr wrap="square" lIns="0" tIns="0" rIns="0" bIns="0" rtlCol="0" anchor="ctr">
            <a:normAutofit/>
          </a:bodyPr>
          <a:lstStyle/>
          <a:p>
            <a:pPr indent="0" marL="0">
              <a:buNone/>
            </a:pPr>
            <a:r>
              <a:rPr lang="en-US" sz="800" b="1" dirty="0">
                <a:solidFill>
                  <a:srgbClr val="FFFFFF"/>
                </a:solidFill>
                <a:latin typeface="Figtree" pitchFamily="34" charset="0"/>
                <a:ea typeface="Figtree" pitchFamily="34" charset="-122"/>
                <a:cs typeface="Figtree" pitchFamily="34" charset="-120"/>
              </a:rPr>
              <a:t>DMA refresh</a:t>
            </a:r>
            <a:endParaRPr lang="en-US" sz="800" dirty="0"/>
          </a:p>
        </p:txBody>
      </p:sp>
      <p:sp>
        <p:nvSpPr>
          <p:cNvPr id="34" name="Shape 32"/>
          <p:cNvSpPr/>
          <p:nvPr/>
        </p:nvSpPr>
        <p:spPr>
          <a:xfrm>
            <a:off x="3388659" y="2770632"/>
            <a:ext cx="1420009" cy="160020"/>
          </a:xfrm>
          <a:prstGeom prst="roundRect">
            <a:avLst>
              <a:gd name="adj" fmla="val 45714"/>
            </a:avLst>
          </a:prstGeom>
          <a:solidFill>
            <a:srgbClr val="3A3FD1"/>
          </a:solidFill>
          <a:ln w="12700">
            <a:solidFill>
              <a:srgbClr val="3A3FD1"/>
            </a:solidFill>
            <a:prstDash val="solid"/>
          </a:ln>
        </p:spPr>
      </p:sp>
      <p:sp>
        <p:nvSpPr>
          <p:cNvPr id="35" name="Text 33"/>
          <p:cNvSpPr txBox="1"/>
          <p:nvPr/>
        </p:nvSpPr>
        <p:spPr>
          <a:xfrm>
            <a:off x="3443523" y="2770632"/>
            <a:ext cx="1328569" cy="160020"/>
          </a:xfrm>
          <a:prstGeom prst="rect">
            <a:avLst/>
          </a:prstGeom>
          <a:noFill/>
          <a:ln/>
        </p:spPr>
        <p:txBody>
          <a:bodyPr wrap="square" lIns="0" tIns="0" rIns="0" bIns="0" rtlCol="0" anchor="ctr">
            <a:normAutofit/>
          </a:bodyPr>
          <a:lstStyle/>
          <a:p>
            <a:pPr indent="0" marL="0">
              <a:buNone/>
            </a:pPr>
            <a:r>
              <a:rPr lang="en-US" sz="800" b="1" dirty="0">
                <a:solidFill>
                  <a:srgbClr val="FFFFFF"/>
                </a:solidFill>
                <a:latin typeface="Figtree" pitchFamily="34" charset="0"/>
                <a:ea typeface="Figtree" pitchFamily="34" charset="-122"/>
                <a:cs typeface="Figtree" pitchFamily="34" charset="-120"/>
              </a:rPr>
              <a:t>Gap analysis</a:t>
            </a:r>
            <a:endParaRPr lang="en-US" sz="800" dirty="0"/>
          </a:p>
        </p:txBody>
      </p:sp>
      <p:sp>
        <p:nvSpPr>
          <p:cNvPr id="36" name="Shape 34"/>
          <p:cNvSpPr/>
          <p:nvPr/>
        </p:nvSpPr>
        <p:spPr>
          <a:xfrm>
            <a:off x="4335332" y="2967228"/>
            <a:ext cx="1893346" cy="160020"/>
          </a:xfrm>
          <a:prstGeom prst="roundRect">
            <a:avLst>
              <a:gd name="adj" fmla="val 45714"/>
            </a:avLst>
          </a:prstGeom>
          <a:solidFill>
            <a:srgbClr val="3A3FD1"/>
          </a:solidFill>
          <a:ln w="12700">
            <a:solidFill>
              <a:srgbClr val="3A3FD1"/>
            </a:solidFill>
            <a:prstDash val="solid"/>
          </a:ln>
        </p:spPr>
      </p:sp>
      <p:sp>
        <p:nvSpPr>
          <p:cNvPr id="37" name="Text 35"/>
          <p:cNvSpPr txBox="1"/>
          <p:nvPr/>
        </p:nvSpPr>
        <p:spPr>
          <a:xfrm>
            <a:off x="4390196" y="2967228"/>
            <a:ext cx="1801906" cy="160020"/>
          </a:xfrm>
          <a:prstGeom prst="rect">
            <a:avLst/>
          </a:prstGeom>
          <a:noFill/>
          <a:ln/>
        </p:spPr>
        <p:txBody>
          <a:bodyPr wrap="square" lIns="0" tIns="0" rIns="0" bIns="0" rtlCol="0" anchor="ctr">
            <a:normAutofit/>
          </a:bodyPr>
          <a:lstStyle/>
          <a:p>
            <a:pPr indent="0" marL="0">
              <a:buNone/>
            </a:pPr>
            <a:r>
              <a:rPr lang="en-US" sz="800" b="1" dirty="0">
                <a:solidFill>
                  <a:srgbClr val="FFFFFF"/>
                </a:solidFill>
                <a:latin typeface="Figtree" pitchFamily="34" charset="0"/>
                <a:ea typeface="Figtree" pitchFamily="34" charset="-122"/>
                <a:cs typeface="Figtree" pitchFamily="34" charset="-120"/>
              </a:rPr>
              <a:t>Governance, embed strategy</a:t>
            </a:r>
            <a:endParaRPr lang="en-US" sz="800" dirty="0"/>
          </a:p>
        </p:txBody>
      </p:sp>
      <p:sp>
        <p:nvSpPr>
          <p:cNvPr id="38" name="Shape 36"/>
          <p:cNvSpPr/>
          <p:nvPr/>
        </p:nvSpPr>
        <p:spPr>
          <a:xfrm>
            <a:off x="3861995" y="3163824"/>
            <a:ext cx="1420009" cy="160020"/>
          </a:xfrm>
          <a:prstGeom prst="roundRect">
            <a:avLst>
              <a:gd name="adj" fmla="val 45714"/>
            </a:avLst>
          </a:prstGeom>
          <a:solidFill>
            <a:srgbClr val="3A3FD1"/>
          </a:solidFill>
          <a:ln w="12700">
            <a:solidFill>
              <a:srgbClr val="3A3FD1"/>
            </a:solidFill>
            <a:prstDash val="solid"/>
          </a:ln>
        </p:spPr>
      </p:sp>
      <p:sp>
        <p:nvSpPr>
          <p:cNvPr id="39" name="Text 37"/>
          <p:cNvSpPr txBox="1"/>
          <p:nvPr/>
        </p:nvSpPr>
        <p:spPr>
          <a:xfrm>
            <a:off x="3916859" y="3163824"/>
            <a:ext cx="1328569" cy="160020"/>
          </a:xfrm>
          <a:prstGeom prst="rect">
            <a:avLst/>
          </a:prstGeom>
          <a:noFill/>
          <a:ln/>
        </p:spPr>
        <p:txBody>
          <a:bodyPr wrap="square" lIns="0" tIns="0" rIns="0" bIns="0" rtlCol="0" anchor="ctr">
            <a:normAutofit/>
          </a:bodyPr>
          <a:lstStyle/>
          <a:p>
            <a:pPr indent="0" marL="0">
              <a:buNone/>
            </a:pPr>
            <a:r>
              <a:rPr lang="en-US" sz="800" b="1" dirty="0">
                <a:solidFill>
                  <a:srgbClr val="FFFFFF"/>
                </a:solidFill>
                <a:latin typeface="Figtree" pitchFamily="34" charset="0"/>
                <a:ea typeface="Figtree" pitchFamily="34" charset="-122"/>
                <a:cs typeface="Figtree" pitchFamily="34" charset="-120"/>
              </a:rPr>
              <a:t>Data set-up</a:t>
            </a:r>
            <a:endParaRPr lang="en-US" sz="800" dirty="0"/>
          </a:p>
        </p:txBody>
      </p:sp>
      <p:sp>
        <p:nvSpPr>
          <p:cNvPr id="40" name="Shape 38"/>
          <p:cNvSpPr/>
          <p:nvPr/>
        </p:nvSpPr>
        <p:spPr>
          <a:xfrm>
            <a:off x="4808668" y="3360420"/>
            <a:ext cx="946673" cy="160020"/>
          </a:xfrm>
          <a:prstGeom prst="roundRect">
            <a:avLst>
              <a:gd name="adj" fmla="val 45714"/>
            </a:avLst>
          </a:prstGeom>
          <a:solidFill>
            <a:srgbClr val="3A3FD1"/>
          </a:solidFill>
          <a:ln w="12700">
            <a:solidFill>
              <a:srgbClr val="3A3FD1"/>
            </a:solidFill>
            <a:prstDash val="solid"/>
          </a:ln>
        </p:spPr>
      </p:sp>
      <p:sp>
        <p:nvSpPr>
          <p:cNvPr id="41" name="Text 39"/>
          <p:cNvSpPr txBox="1"/>
          <p:nvPr/>
        </p:nvSpPr>
        <p:spPr>
          <a:xfrm>
            <a:off x="4863532" y="3360420"/>
            <a:ext cx="855233" cy="160020"/>
          </a:xfrm>
          <a:prstGeom prst="rect">
            <a:avLst/>
          </a:prstGeom>
          <a:noFill/>
          <a:ln/>
        </p:spPr>
        <p:txBody>
          <a:bodyPr wrap="square" lIns="0" tIns="0" rIns="0" bIns="0" rtlCol="0" anchor="ctr">
            <a:normAutofit/>
          </a:bodyPr>
          <a:lstStyle/>
          <a:p>
            <a:pPr indent="0" marL="0">
              <a:buNone/>
            </a:pPr>
            <a:r>
              <a:rPr lang="en-US" sz="800" b="1" dirty="0">
                <a:solidFill>
                  <a:srgbClr val="FFFFFF"/>
                </a:solidFill>
                <a:latin typeface="Figtree" pitchFamily="34" charset="0"/>
                <a:ea typeface="Figtree" pitchFamily="34" charset="-122"/>
                <a:cs typeface="Figtree" pitchFamily="34" charset="-120"/>
              </a:rPr>
              <a:t>Dry run</a:t>
            </a:r>
            <a:endParaRPr lang="en-US" sz="800" dirty="0"/>
          </a:p>
        </p:txBody>
      </p:sp>
      <p:sp>
        <p:nvSpPr>
          <p:cNvPr id="42" name="Shape 40"/>
          <p:cNvSpPr/>
          <p:nvPr/>
        </p:nvSpPr>
        <p:spPr>
          <a:xfrm>
            <a:off x="5755341" y="3557016"/>
            <a:ext cx="946673" cy="160020"/>
          </a:xfrm>
          <a:prstGeom prst="roundRect">
            <a:avLst>
              <a:gd name="adj" fmla="val 45714"/>
            </a:avLst>
          </a:prstGeom>
          <a:solidFill>
            <a:srgbClr val="3A3FD1"/>
          </a:solidFill>
          <a:ln w="12700">
            <a:solidFill>
              <a:srgbClr val="3A3FD1"/>
            </a:solidFill>
            <a:prstDash val="solid"/>
          </a:ln>
        </p:spPr>
      </p:sp>
      <p:sp>
        <p:nvSpPr>
          <p:cNvPr id="43" name="Text 41"/>
          <p:cNvSpPr txBox="1"/>
          <p:nvPr/>
        </p:nvSpPr>
        <p:spPr>
          <a:xfrm>
            <a:off x="5810205" y="3557016"/>
            <a:ext cx="855233" cy="160020"/>
          </a:xfrm>
          <a:prstGeom prst="rect">
            <a:avLst/>
          </a:prstGeom>
          <a:noFill/>
          <a:ln/>
        </p:spPr>
        <p:txBody>
          <a:bodyPr wrap="square" lIns="0" tIns="0" rIns="0" bIns="0" rtlCol="0" anchor="ctr">
            <a:normAutofit/>
          </a:bodyPr>
          <a:lstStyle/>
          <a:p>
            <a:pPr indent="0" marL="0">
              <a:buNone/>
            </a:pPr>
            <a:r>
              <a:rPr lang="en-US" sz="800" b="1" dirty="0">
                <a:solidFill>
                  <a:srgbClr val="FFFFFF"/>
                </a:solidFill>
                <a:latin typeface="Figtree" pitchFamily="34" charset="0"/>
                <a:ea typeface="Figtree" pitchFamily="34" charset="-122"/>
                <a:cs typeface="Figtree" pitchFamily="34" charset="-120"/>
              </a:rPr>
              <a:t>Fix, pre-draft</a:t>
            </a:r>
            <a:endParaRPr lang="en-US" sz="800" dirty="0"/>
          </a:p>
        </p:txBody>
      </p:sp>
      <p:sp>
        <p:nvSpPr>
          <p:cNvPr id="44" name="Shape 42"/>
          <p:cNvSpPr/>
          <p:nvPr/>
        </p:nvSpPr>
        <p:spPr>
          <a:xfrm>
            <a:off x="6702014" y="3753612"/>
            <a:ext cx="1893346" cy="160020"/>
          </a:xfrm>
          <a:prstGeom prst="roundRect">
            <a:avLst>
              <a:gd name="adj" fmla="val 45714"/>
            </a:avLst>
          </a:prstGeom>
          <a:solidFill>
            <a:srgbClr val="3A3FD1"/>
          </a:solidFill>
          <a:ln w="12700">
            <a:solidFill>
              <a:srgbClr val="3A3FD1"/>
            </a:solidFill>
            <a:prstDash val="solid"/>
          </a:ln>
        </p:spPr>
      </p:sp>
      <p:sp>
        <p:nvSpPr>
          <p:cNvPr id="45" name="Text 43"/>
          <p:cNvSpPr txBox="1"/>
          <p:nvPr/>
        </p:nvSpPr>
        <p:spPr>
          <a:xfrm>
            <a:off x="6756878" y="3753612"/>
            <a:ext cx="1801906" cy="160020"/>
          </a:xfrm>
          <a:prstGeom prst="rect">
            <a:avLst/>
          </a:prstGeom>
          <a:noFill/>
          <a:ln/>
        </p:spPr>
        <p:txBody>
          <a:bodyPr wrap="square" lIns="0" tIns="0" rIns="0" bIns="0" rtlCol="0" anchor="ctr">
            <a:normAutofit/>
          </a:bodyPr>
          <a:lstStyle/>
          <a:p>
            <a:pPr indent="0" marL="0">
              <a:buNone/>
            </a:pPr>
            <a:r>
              <a:rPr lang="en-US" sz="800" b="1" dirty="0">
                <a:solidFill>
                  <a:srgbClr val="FFFFFF"/>
                </a:solidFill>
                <a:latin typeface="Figtree" pitchFamily="34" charset="0"/>
                <a:ea typeface="Figtree" pitchFamily="34" charset="-122"/>
                <a:cs typeface="Figtree" pitchFamily="34" charset="-120"/>
              </a:rPr>
              <a:t>FY2027 close, draft, assurance</a:t>
            </a:r>
            <a:endParaRPr lang="en-US" sz="800" dirty="0"/>
          </a:p>
        </p:txBody>
      </p:sp>
      <p:sp>
        <p:nvSpPr>
          <p:cNvPr id="46" name="Shape 44"/>
          <p:cNvSpPr/>
          <p:nvPr/>
        </p:nvSpPr>
        <p:spPr>
          <a:xfrm>
            <a:off x="1021976" y="3950208"/>
            <a:ext cx="7573384" cy="160020"/>
          </a:xfrm>
          <a:prstGeom prst="roundRect">
            <a:avLst>
              <a:gd name="adj" fmla="val 45714"/>
            </a:avLst>
          </a:prstGeom>
          <a:solidFill>
            <a:srgbClr val="0C8F8F"/>
          </a:solidFill>
          <a:ln w="12700">
            <a:solidFill>
              <a:srgbClr val="0C8F8F"/>
            </a:solidFill>
            <a:prstDash val="solid"/>
          </a:ln>
        </p:spPr>
      </p:sp>
      <p:sp>
        <p:nvSpPr>
          <p:cNvPr id="47" name="Text 45"/>
          <p:cNvSpPr txBox="1"/>
          <p:nvPr/>
        </p:nvSpPr>
        <p:spPr>
          <a:xfrm>
            <a:off x="1550177" y="3950208"/>
            <a:ext cx="7481944" cy="160020"/>
          </a:xfrm>
          <a:prstGeom prst="rect">
            <a:avLst/>
          </a:prstGeom>
          <a:noFill/>
          <a:ln/>
        </p:spPr>
        <p:txBody>
          <a:bodyPr wrap="square" lIns="0" tIns="0" rIns="0" bIns="0" rtlCol="0" anchor="ctr">
            <a:normAutofit/>
          </a:bodyPr>
          <a:lstStyle/>
          <a:p>
            <a:pPr indent="0" marL="0">
              <a:buNone/>
            </a:pPr>
            <a:r>
              <a:rPr lang="en-US" sz="800" b="1" dirty="0">
                <a:solidFill>
                  <a:srgbClr val="FFFFFF"/>
                </a:solidFill>
                <a:latin typeface="Figtree" pitchFamily="34" charset="0"/>
                <a:ea typeface="Figtree" pitchFamily="34" charset="-122"/>
                <a:cs typeface="Figtree" pitchFamily="34" charset="-120"/>
              </a:rPr>
              <a:t>Auditor</a:t>
            </a:r>
            <a:endParaRPr lang="en-US" sz="800" dirty="0"/>
          </a:p>
        </p:txBody>
      </p:sp>
      <p:sp>
        <p:nvSpPr>
          <p:cNvPr id="48" name="Shape 46"/>
          <p:cNvSpPr/>
          <p:nvPr/>
        </p:nvSpPr>
        <p:spPr>
          <a:xfrm>
            <a:off x="1194637" y="3966210"/>
            <a:ext cx="128016" cy="128016"/>
          </a:xfrm>
          <a:prstGeom prst="diamond">
            <a:avLst/>
          </a:prstGeom>
          <a:solidFill>
            <a:srgbClr val="FFE27A"/>
          </a:solidFill>
          <a:ln w="9525">
            <a:solidFill>
              <a:srgbClr val="111A3D"/>
            </a:solidFill>
            <a:prstDash val="solid"/>
          </a:ln>
        </p:spPr>
      </p:sp>
      <p:sp>
        <p:nvSpPr>
          <p:cNvPr id="49" name="Shape 47"/>
          <p:cNvSpPr/>
          <p:nvPr/>
        </p:nvSpPr>
        <p:spPr>
          <a:xfrm>
            <a:off x="2141310" y="3966210"/>
            <a:ext cx="128016" cy="128016"/>
          </a:xfrm>
          <a:prstGeom prst="diamond">
            <a:avLst/>
          </a:prstGeom>
          <a:solidFill>
            <a:srgbClr val="FFE27A"/>
          </a:solidFill>
          <a:ln w="9525">
            <a:solidFill>
              <a:srgbClr val="111A3D"/>
            </a:solidFill>
            <a:prstDash val="solid"/>
          </a:ln>
        </p:spPr>
      </p:sp>
      <p:sp>
        <p:nvSpPr>
          <p:cNvPr id="50" name="Shape 48"/>
          <p:cNvSpPr/>
          <p:nvPr/>
        </p:nvSpPr>
        <p:spPr>
          <a:xfrm>
            <a:off x="2614646" y="3966210"/>
            <a:ext cx="128016" cy="128016"/>
          </a:xfrm>
          <a:prstGeom prst="diamond">
            <a:avLst/>
          </a:prstGeom>
          <a:solidFill>
            <a:srgbClr val="FFE27A"/>
          </a:solidFill>
          <a:ln w="9525">
            <a:solidFill>
              <a:srgbClr val="111A3D"/>
            </a:solidFill>
            <a:prstDash val="solid"/>
          </a:ln>
        </p:spPr>
      </p:sp>
      <p:sp>
        <p:nvSpPr>
          <p:cNvPr id="51" name="Shape 49"/>
          <p:cNvSpPr/>
          <p:nvPr/>
        </p:nvSpPr>
        <p:spPr>
          <a:xfrm>
            <a:off x="4034656" y="3966210"/>
            <a:ext cx="128016" cy="128016"/>
          </a:xfrm>
          <a:prstGeom prst="diamond">
            <a:avLst/>
          </a:prstGeom>
          <a:solidFill>
            <a:srgbClr val="FFE27A"/>
          </a:solidFill>
          <a:ln w="9525">
            <a:solidFill>
              <a:srgbClr val="111A3D"/>
            </a:solidFill>
            <a:prstDash val="solid"/>
          </a:ln>
        </p:spPr>
      </p:sp>
      <p:sp>
        <p:nvSpPr>
          <p:cNvPr id="52" name="Shape 50"/>
          <p:cNvSpPr/>
          <p:nvPr/>
        </p:nvSpPr>
        <p:spPr>
          <a:xfrm>
            <a:off x="5454665" y="3966210"/>
            <a:ext cx="128016" cy="128016"/>
          </a:xfrm>
          <a:prstGeom prst="diamond">
            <a:avLst/>
          </a:prstGeom>
          <a:solidFill>
            <a:srgbClr val="FFE27A"/>
          </a:solidFill>
          <a:ln w="9525">
            <a:solidFill>
              <a:srgbClr val="111A3D"/>
            </a:solidFill>
            <a:prstDash val="solid"/>
          </a:ln>
        </p:spPr>
      </p:sp>
      <p:sp>
        <p:nvSpPr>
          <p:cNvPr id="53" name="Shape 51"/>
          <p:cNvSpPr/>
          <p:nvPr/>
        </p:nvSpPr>
        <p:spPr>
          <a:xfrm>
            <a:off x="7348011" y="3966210"/>
            <a:ext cx="128016" cy="128016"/>
          </a:xfrm>
          <a:prstGeom prst="diamond">
            <a:avLst/>
          </a:prstGeom>
          <a:solidFill>
            <a:srgbClr val="FFE27A"/>
          </a:solidFill>
          <a:ln w="9525">
            <a:solidFill>
              <a:srgbClr val="111A3D"/>
            </a:solidFill>
            <a:prstDash val="solid"/>
          </a:ln>
        </p:spPr>
      </p:sp>
      <p:sp>
        <p:nvSpPr>
          <p:cNvPr id="54" name="Shape 52"/>
          <p:cNvSpPr/>
          <p:nvPr/>
        </p:nvSpPr>
        <p:spPr>
          <a:xfrm>
            <a:off x="1021976" y="4146804"/>
            <a:ext cx="1893346" cy="160020"/>
          </a:xfrm>
          <a:prstGeom prst="roundRect">
            <a:avLst>
              <a:gd name="adj" fmla="val 45714"/>
            </a:avLst>
          </a:prstGeom>
          <a:solidFill>
            <a:srgbClr val="FFD6CC"/>
          </a:solidFill>
          <a:ln w="12700">
            <a:solidFill>
              <a:srgbClr val="FFD6CC"/>
            </a:solidFill>
            <a:prstDash val="solid"/>
          </a:ln>
        </p:spPr>
      </p:sp>
      <p:sp>
        <p:nvSpPr>
          <p:cNvPr id="55" name="Text 53"/>
          <p:cNvSpPr txBox="1"/>
          <p:nvPr/>
        </p:nvSpPr>
        <p:spPr>
          <a:xfrm>
            <a:off x="1076840" y="4146804"/>
            <a:ext cx="1801906" cy="160020"/>
          </a:xfrm>
          <a:prstGeom prst="rect">
            <a:avLst/>
          </a:prstGeom>
          <a:noFill/>
          <a:ln/>
        </p:spPr>
        <p:txBody>
          <a:bodyPr wrap="square" lIns="0" tIns="0" rIns="0" bIns="0" rtlCol="0" anchor="ctr">
            <a:normAutofit/>
          </a:bodyPr>
          <a:lstStyle/>
          <a:p>
            <a:pPr indent="0" marL="0">
              <a:buNone/>
            </a:pPr>
            <a:r>
              <a:rPr lang="en-US" sz="800" b="1" dirty="0">
                <a:solidFill>
                  <a:srgbClr val="6F1C10"/>
                </a:solidFill>
                <a:latin typeface="Figtree" pitchFamily="34" charset="0"/>
                <a:ea typeface="Figtree" pitchFamily="34" charset="-122"/>
                <a:cs typeface="Figtree" pitchFamily="34" charset="-120"/>
              </a:rPr>
              <a:t>Annual report</a:t>
            </a:r>
            <a:endParaRPr lang="en-US" sz="800" dirty="0"/>
          </a:p>
        </p:txBody>
      </p:sp>
      <p:sp>
        <p:nvSpPr>
          <p:cNvPr id="56" name="Shape 54"/>
          <p:cNvSpPr/>
          <p:nvPr/>
        </p:nvSpPr>
        <p:spPr>
          <a:xfrm>
            <a:off x="6702014" y="4146804"/>
            <a:ext cx="1893346" cy="160020"/>
          </a:xfrm>
          <a:prstGeom prst="roundRect">
            <a:avLst>
              <a:gd name="adj" fmla="val 45714"/>
            </a:avLst>
          </a:prstGeom>
          <a:solidFill>
            <a:srgbClr val="FFD6CC"/>
          </a:solidFill>
          <a:ln w="12700">
            <a:solidFill>
              <a:srgbClr val="FFD6CC"/>
            </a:solidFill>
            <a:prstDash val="solid"/>
          </a:ln>
        </p:spPr>
      </p:sp>
      <p:sp>
        <p:nvSpPr>
          <p:cNvPr id="57" name="Text 55"/>
          <p:cNvSpPr txBox="1"/>
          <p:nvPr/>
        </p:nvSpPr>
        <p:spPr>
          <a:xfrm>
            <a:off x="6756878" y="4146804"/>
            <a:ext cx="1801906" cy="160020"/>
          </a:xfrm>
          <a:prstGeom prst="rect">
            <a:avLst/>
          </a:prstGeom>
          <a:noFill/>
          <a:ln/>
        </p:spPr>
        <p:txBody>
          <a:bodyPr wrap="square" lIns="0" tIns="0" rIns="0" bIns="0" rtlCol="0" anchor="ctr">
            <a:normAutofit/>
          </a:bodyPr>
          <a:lstStyle/>
          <a:p>
            <a:pPr indent="0" marL="0">
              <a:buNone/>
            </a:pPr>
            <a:r>
              <a:rPr lang="en-US" sz="800" b="1" dirty="0">
                <a:solidFill>
                  <a:srgbClr val="6F1C10"/>
                </a:solidFill>
                <a:latin typeface="Figtree" pitchFamily="34" charset="0"/>
                <a:ea typeface="Figtree" pitchFamily="34" charset="-122"/>
                <a:cs typeface="Figtree" pitchFamily="34" charset="-120"/>
              </a:rPr>
              <a:t>Annual report</a:t>
            </a:r>
            <a:endParaRPr lang="en-US" sz="800" dirty="0"/>
          </a:p>
        </p:txBody>
      </p:sp>
      <p:sp>
        <p:nvSpPr>
          <p:cNvPr id="58" name="Text 56"/>
          <p:cNvSpPr txBox="1"/>
          <p:nvPr/>
        </p:nvSpPr>
        <p:spPr>
          <a:xfrm>
            <a:off x="548640" y="4434840"/>
            <a:ext cx="8046720" cy="274320"/>
          </a:xfrm>
          <a:prstGeom prst="rect">
            <a:avLst/>
          </a:prstGeom>
          <a:noFill/>
          <a:ln/>
        </p:spPr>
        <p:txBody>
          <a:bodyPr wrap="square" lIns="0" tIns="0" rIns="0" bIns="0" rtlCol="0" anchor="ctr"/>
          <a:lstStyle/>
          <a:p>
            <a:pPr indent="0" marL="0">
              <a:buNone/>
            </a:pPr>
            <a:r>
              <a:rPr lang="en-US" sz="900" dirty="0">
                <a:solidFill>
                  <a:srgbClr val="566089"/>
                </a:solidFill>
                <a:latin typeface="Figtree" pitchFamily="34" charset="0"/>
                <a:ea typeface="Figtree" pitchFamily="34" charset="-122"/>
                <a:cs typeface="Figtree" pitchFamily="34" charset="-120"/>
              </a:rPr>
              <a:t>Plan: DMA refresh. Planning guide, not a legal requirement. Teal arrow: auditor track, diamonds are check-ins. Light coral: annual financial reporting.</a:t>
            </a:r>
            <a:endParaRPr lang="en-US" sz="900" dirty="0"/>
          </a:p>
        </p:txBody>
      </p:sp>
      <p:sp>
        <p:nvSpPr>
          <p:cNvPr id="59" name="Text 57"/>
          <p:cNvSpPr txBox="1"/>
          <p:nvPr/>
        </p:nvSpPr>
        <p:spPr>
          <a:xfrm>
            <a:off x="548640" y="4754880"/>
            <a:ext cx="6858000" cy="228600"/>
          </a:xfrm>
          <a:prstGeom prst="rect">
            <a:avLst/>
          </a:prstGeom>
          <a:noFill/>
          <a:ln/>
        </p:spPr>
        <p:txBody>
          <a:bodyPr wrap="square" lIns="0" tIns="0" rIns="0" bIns="0" rtlCol="0" anchor="ctr"/>
          <a:lstStyle/>
          <a:p>
            <a:pPr indent="0" marL="0">
              <a:buNone/>
            </a:pPr>
            <a:r>
              <a:rPr lang="en-US" sz="900" dirty="0">
                <a:solidFill>
                  <a:srgbClr val="566089"/>
                </a:solidFill>
                <a:latin typeface="Figtree" pitchFamily="34" charset="0"/>
                <a:ea typeface="Figtree" pitchFamily="34" charset="-122"/>
                <a:cs typeface="Figtree" pitchFamily="34" charset="-120"/>
              </a:rPr>
              <a:t>greenfriend. · Automated view from your inputs, without warranty, not legal advice</a:t>
            </a:r>
            <a:endParaRPr lang="en-US" sz="900" dirty="0"/>
          </a:p>
        </p:txBody>
      </p:sp>
      <p:sp>
        <p:nvSpPr>
          <p:cNvPr id="60" name="Text 58"/>
          <p:cNvSpPr txBox="1"/>
          <p:nvPr/>
        </p:nvSpPr>
        <p:spPr>
          <a:xfrm>
            <a:off x="8046720" y="4754880"/>
            <a:ext cx="548640" cy="228600"/>
          </a:xfrm>
          <a:prstGeom prst="rect">
            <a:avLst/>
          </a:prstGeom>
          <a:noFill/>
          <a:ln/>
        </p:spPr>
        <p:txBody>
          <a:bodyPr wrap="square" lIns="0" tIns="0" rIns="0" bIns="0" rtlCol="0" anchor="ctr"/>
          <a:lstStyle/>
          <a:p>
            <a:pPr algn="r" indent="0" marL="0">
              <a:buNone/>
            </a:pPr>
            <a:r>
              <a:rPr lang="en-US" sz="900" dirty="0">
                <a:solidFill>
                  <a:srgbClr val="566089"/>
                </a:solidFill>
                <a:latin typeface="Figtree" pitchFamily="34" charset="0"/>
                <a:ea typeface="Figtree" pitchFamily="34" charset="-122"/>
                <a:cs typeface="Figtree"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1280160"/>
            <a:ext cx="7315200" cy="822960"/>
          </a:xfrm>
          <a:prstGeom prst="rect">
            <a:avLst/>
          </a:prstGeom>
          <a:noFill/>
          <a:ln/>
        </p:spPr>
        <p:txBody>
          <a:bodyPr wrap="square" lIns="0" tIns="0" rIns="0" bIns="0" rtlCol="0" anchor="ctr"/>
          <a:lstStyle/>
          <a:p>
            <a:pPr indent="0" marL="0">
              <a:buNone/>
            </a:pPr>
            <a:r>
              <a:rPr lang="en-US" sz="3600" b="1" dirty="0">
                <a:solidFill>
                  <a:srgbClr val="FFFFFF"/>
                </a:solidFill>
                <a:latin typeface="Literata" pitchFamily="34" charset="0"/>
                <a:ea typeface="Literata" pitchFamily="34" charset="-122"/>
                <a:cs typeface="Literata" pitchFamily="34" charset="-120"/>
              </a:rPr>
              <a:t>Report what you do.</a:t>
            </a:r>
            <a:endParaRPr lang="en-US" sz="3600" dirty="0"/>
          </a:p>
        </p:txBody>
      </p:sp>
      <p:sp>
        <p:nvSpPr>
          <p:cNvPr id="3" name="Text 1"/>
          <p:cNvSpPr txBox="1"/>
          <p:nvPr/>
        </p:nvSpPr>
        <p:spPr>
          <a:xfrm>
            <a:off x="548640" y="2194560"/>
            <a:ext cx="7315200" cy="365760"/>
          </a:xfrm>
          <a:prstGeom prst="rect">
            <a:avLst/>
          </a:prstGeom>
          <a:noFill/>
          <a:ln/>
        </p:spPr>
        <p:txBody>
          <a:bodyPr wrap="square" lIns="0" tIns="0" rIns="0" bIns="0" rtlCol="0" anchor="ctr"/>
          <a:lstStyle/>
          <a:p>
            <a:pPr indent="0" marL="0">
              <a:buNone/>
            </a:pPr>
            <a:r>
              <a:rPr lang="en-US" sz="1500" dirty="0">
                <a:solidFill>
                  <a:srgbClr val="E6E8FF"/>
                </a:solidFill>
                <a:latin typeface="Figtree" pitchFamily="34" charset="0"/>
                <a:ea typeface="Figtree" pitchFamily="34" charset="-122"/>
                <a:cs typeface="Figtree" pitchFamily="34" charset="-120"/>
              </a:rPr>
              <a:t>Want a second opinion? Book a free 20-minute call at greenfriend.org</a:t>
            </a:r>
            <a:endParaRPr lang="en-US" sz="1500" dirty="0"/>
          </a:p>
        </p:txBody>
      </p:sp>
      <p:sp>
        <p:nvSpPr>
          <p:cNvPr id="4" name="Text 2"/>
          <p:cNvSpPr txBox="1"/>
          <p:nvPr/>
        </p:nvSpPr>
        <p:spPr>
          <a:xfrm>
            <a:off x="548640" y="3291840"/>
            <a:ext cx="7498080" cy="914400"/>
          </a:xfrm>
          <a:prstGeom prst="rect">
            <a:avLst/>
          </a:prstGeom>
          <a:noFill/>
          <a:ln/>
        </p:spPr>
        <p:txBody>
          <a:bodyPr wrap="square" lIns="0" tIns="0" rIns="0" bIns="0" rtlCol="0" anchor="t"/>
          <a:lstStyle/>
          <a:p>
            <a:pPr indent="0" marL="0">
              <a:buNone/>
            </a:pPr>
            <a:r>
              <a:rPr lang="en-US" sz="1000" dirty="0">
                <a:solidFill>
                  <a:srgbClr val="C9CEFF"/>
                </a:solidFill>
                <a:latin typeface="Figtree" pitchFamily="34" charset="0"/>
                <a:ea typeface="Figtree" pitchFamily="34" charset="-122"/>
                <a:cs typeface="Figtree" pitchFamily="34" charset="-120"/>
              </a:rPr>
              <a:t>Automated view generated from the inputs you entered. Indicative reading of Directive (EU) 2026/470 and the revised ESRS (Delegated Regulation (EU) 2026/1563), provided without warranty and not legal advice. greenfriend is not responsible for this output or for how it is used. Prepared with AI support and reviewed by greenfriend. Confirm your position with your auditor or legal adviser.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revised ESRS results</dc:title>
  <dc:subject>PptxGenJS Presentation</dc:subject>
  <dc:creator>greenfriend</dc:creator>
  <cp:lastModifiedBy>greenfriend</cp:lastModifiedBy>
  <cp:revision>1</cp:revision>
  <dcterms:created xsi:type="dcterms:W3CDTF">2026-10-16T09:30:31Z</dcterms:created>
  <dcterms:modified xsi:type="dcterms:W3CDTF">2026-10-16T09:30:31Z</dcterms:modified>
</cp:coreProperties>
</file>